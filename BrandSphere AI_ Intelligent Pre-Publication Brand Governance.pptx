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jpg" Extension="jpg"/>
  <Default ContentType="video/mp4" Extension="m4v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vnd.openxmlformats-officedocument.vmlDrawing" Extension="vml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docProps/app.xml" Type="http://schemas.openxmlformats.org/officeDocument/2006/relationships/extended-properties"/><Relationship Id="rId2" Target="docProps/core.xml" Type="http://schemas.openxmlformats.org/package/2006/relationships/metadata/core-properties"/><Relationship Id="rId3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4.xml" Type="http://schemas.openxmlformats.org/officeDocument/2006/relationships/slide"/><Relationship Id="rId11" Target="slides/slide5.xml" Type="http://schemas.openxmlformats.org/officeDocument/2006/relationships/slide"/><Relationship Id="rId12" Target="slides/slide6.xml" Type="http://schemas.openxmlformats.org/officeDocument/2006/relationships/slide"/><Relationship Id="rId13" Target="slides/slide7.xml" Type="http://schemas.openxmlformats.org/officeDocument/2006/relationships/slide"/><Relationship Id="rId14" Target="slides/slide8.xml" Type="http://schemas.openxmlformats.org/officeDocument/2006/relationships/slide"/><Relationship Id="rId15" Target="slides/slide9.xml" Type="http://schemas.openxmlformats.org/officeDocument/2006/relationships/slide"/><Relationship Id="rId16" Target="slides/slide10.xml" Type="http://schemas.openxmlformats.org/officeDocument/2006/relationships/slide"/><Relationship Id="rId17" Target="slides/slide11.xml" Type="http://schemas.openxmlformats.org/officeDocument/2006/relationships/slide"/><Relationship Id="rId18" Target="slides/slide12.xml" Type="http://schemas.openxmlformats.org/officeDocument/2006/relationships/slide"/><Relationship Id="rId2" Target="slides/slide1.xml" Type="http://schemas.openxmlformats.org/officeDocument/2006/relationships/slide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Relationship Id="rId8" Target="slides/slide2.xml" Type="http://schemas.openxmlformats.org/officeDocument/2006/relationships/slide"/><Relationship Id="rId9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media/image-1-1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media/image2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media/image3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media/image4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media/image5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media/image6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media/image7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media/image8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media/image9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media/image10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media/image11.png" Type="http://schemas.openxmlformats.org/officeDocument/2006/relationships/image"/><Relationship Id="rId2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2"/>
          <p:cNvSpPr/>
          <p:nvPr/>
        </p:nvSpPr>
        <p:spPr>
          <a:xfrm>
            <a:off x="819150" y="609600"/>
            <a:ext cx="260359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25" sz="900">
                <a:solidFill>
                  <a:srgbClr val="60A5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ROUND 1 STRATEGIC BLUEPRINT</a:t>
            </a:r>
            <a:endParaRPr dirty="0" lang="en" sz="900"/>
          </a:p>
        </p:txBody>
      </p:sp>
      <p:sp>
        <p:nvSpPr>
          <p:cNvPr id="4" name="TextBox 25"/>
          <p:cNvSpPr/>
          <p:nvPr/>
        </p:nvSpPr>
        <p:spPr>
          <a:xfrm>
            <a:off x="8323362" y="609600"/>
            <a:ext cx="3259038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45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TEAM CIPHER CODERS • ISHAAN RAY &amp; RISHI PRAJAPATI</a:t>
            </a:r>
            <a:endParaRPr dirty="0" lang="en" sz="900"/>
          </a:p>
        </p:txBody>
      </p:sp>
      <p:sp>
        <p:nvSpPr>
          <p:cNvPr id="5" name="TextBox 32"/>
          <p:cNvSpPr/>
          <p:nvPr/>
        </p:nvSpPr>
        <p:spPr>
          <a:xfrm>
            <a:off x="609600" y="2228850"/>
            <a:ext cx="1676251" cy="247650"/>
          </a:xfrm>
          <a:prstGeom prst="roundRect">
            <a:avLst>
              <a:gd fmla="val 15385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60A5FA"/>
                </a:solidFill>
                <a:highlight>
                  <a:srgbClr val="3B82F6"/>
                </a:highlight>
                <a:latin charset="0" pitchFamily="34" typeface="Noto Sans"/>
                <a:ea charset="-122" pitchFamily="34" typeface="Noto Sans"/>
                <a:cs charset="-120" pitchFamily="34" typeface="Noto Sans"/>
              </a:rPr>
              <a:t>PROBLEM STATEMENT</a:t>
            </a:r>
            <a:endParaRPr dirty="0" lang="en" sz="900"/>
          </a:p>
        </p:txBody>
      </p:sp>
      <p:sp>
        <p:nvSpPr>
          <p:cNvPr id="6" name="TextBox 34"/>
          <p:cNvSpPr/>
          <p:nvPr/>
        </p:nvSpPr>
        <p:spPr>
          <a:xfrm>
            <a:off x="609600" y="2628900"/>
            <a:ext cx="8534400" cy="7143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225" sz="45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BrandSphere AI</a:t>
            </a:r>
            <a:endParaRPr dirty="0" lang="en" sz="4500"/>
          </a:p>
        </p:txBody>
      </p:sp>
      <p:sp>
        <p:nvSpPr>
          <p:cNvPr id="7" name="TextBox 36"/>
          <p:cNvSpPr/>
          <p:nvPr/>
        </p:nvSpPr>
        <p:spPr>
          <a:xfrm>
            <a:off x="609600" y="3429000"/>
            <a:ext cx="7315200" cy="3143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-45" sz="1800">
                <a:solidFill>
                  <a:srgbClr val="D1D5D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Intelligent Pre-Publication Brand Governance</a:t>
            </a:r>
            <a:endParaRPr dirty="0" lang="en" sz="1800"/>
          </a:p>
        </p:txBody>
      </p:sp>
      <p:sp>
        <p:nvSpPr>
          <p:cNvPr id="8" name="TextBox 44"/>
          <p:cNvSpPr/>
          <p:nvPr/>
        </p:nvSpPr>
        <p:spPr>
          <a:xfrm>
            <a:off x="838200" y="4286250"/>
            <a:ext cx="173742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 Trust Framework</a:t>
            </a:r>
            <a:endParaRPr dirty="0" lang="en" sz="1050"/>
          </a:p>
        </p:txBody>
      </p:sp>
      <p:sp>
        <p:nvSpPr>
          <p:cNvPr id="9" name="TextBox 47"/>
          <p:cNvSpPr/>
          <p:nvPr/>
        </p:nvSpPr>
        <p:spPr>
          <a:xfrm>
            <a:off x="2804220" y="4286250"/>
            <a:ext cx="50155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•</a:t>
            </a:r>
            <a:endParaRPr dirty="0" lang="en" sz="1050"/>
          </a:p>
        </p:txBody>
      </p:sp>
      <p:sp>
        <p:nvSpPr>
          <p:cNvPr id="10" name="TextBox 49"/>
          <p:cNvSpPr/>
          <p:nvPr/>
        </p:nvSpPr>
        <p:spPr>
          <a:xfrm>
            <a:off x="3082975" y="4286250"/>
            <a:ext cx="1844873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Autonomous Content Control</a:t>
            </a:r>
            <a:endParaRPr dirty="0" lang="en" sz="1050"/>
          </a:p>
        </p:txBody>
      </p:sp>
      <p:sp>
        <p:nvSpPr>
          <p:cNvPr id="11" name="TextBox 57"/>
          <p:cNvSpPr/>
          <p:nvPr/>
        </p:nvSpPr>
        <p:spPr>
          <a:xfrm>
            <a:off x="609600" y="6096000"/>
            <a:ext cx="80024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90" sz="900">
                <a:solidFill>
                  <a:srgbClr val="6B7280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INKLOOM AI</a:t>
            </a:r>
            <a:endParaRPr dirty="0" lang="en" sz="900"/>
          </a:p>
        </p:txBody>
      </p:sp>
      <p:sp>
        <p:nvSpPr>
          <p:cNvPr id="12" name="TextBox 59"/>
          <p:cNvSpPr/>
          <p:nvPr/>
        </p:nvSpPr>
        <p:spPr>
          <a:xfrm>
            <a:off x="10542091" y="6096000"/>
            <a:ext cx="104030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90" sz="900">
                <a:solidFill>
                  <a:srgbClr val="6B7280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01 / STRATEGY</a:t>
            </a:r>
            <a:endParaRPr dirty="0" lang="en" sz="9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1"/>
          <p:cNvSpPr/>
          <p:nvPr/>
        </p:nvSpPr>
        <p:spPr>
          <a:xfrm>
            <a:off x="609600" y="609600"/>
            <a:ext cx="1097280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25" sz="900">
                <a:solidFill>
                  <a:srgbClr val="FF4B4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THE HIDDEN THREAT OF BRAND ENTROPY</a:t>
            </a:r>
            <a:endParaRPr dirty="0" lang="en" sz="900"/>
          </a:p>
        </p:txBody>
      </p:sp>
      <p:sp>
        <p:nvSpPr>
          <p:cNvPr id="4" name="TextBox 13"/>
          <p:cNvSpPr/>
          <p:nvPr/>
        </p:nvSpPr>
        <p:spPr>
          <a:xfrm>
            <a:off x="609600" y="876300"/>
            <a:ext cx="10972800" cy="571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90" sz="36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The Core Conflict &amp; Crisis</a:t>
            </a:r>
            <a:endParaRPr dirty="0" lang="en" sz="3600"/>
          </a:p>
        </p:txBody>
      </p:sp>
      <p:sp>
        <p:nvSpPr>
          <p:cNvPr id="5" name="TextBox 26"/>
          <p:cNvSpPr/>
          <p:nvPr/>
        </p:nvSpPr>
        <p:spPr>
          <a:xfrm>
            <a:off x="857250" y="2822972"/>
            <a:ext cx="3829050" cy="74295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High-velocity content creation without robust</a:t>
            </a:r>
            <a:endParaRPr dirty="0" lang="en" sz="1200"/>
          </a:p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guardrails leads to severe brand entropy and</a:t>
            </a:r>
            <a:endParaRPr dirty="0" lang="en" sz="1200"/>
          </a:p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credibility risks.</a:t>
            </a:r>
            <a:endParaRPr dirty="0" lang="en" sz="1200"/>
          </a:p>
        </p:txBody>
      </p:sp>
      <p:sp>
        <p:nvSpPr>
          <p:cNvPr id="6" name="TextBox 29"/>
          <p:cNvSpPr/>
          <p:nvPr/>
        </p:nvSpPr>
        <p:spPr>
          <a:xfrm>
            <a:off x="609600" y="4023122"/>
            <a:ext cx="4305300" cy="650081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Organizations deploy internal authors, external agencies, and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generative AI tools, producing massive content across web, social,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PR, and collateral.</a:t>
            </a:r>
            <a:endParaRPr dirty="0" lang="en" sz="1050"/>
          </a:p>
        </p:txBody>
      </p:sp>
      <p:sp>
        <p:nvSpPr>
          <p:cNvPr id="7" name="TextBox 38"/>
          <p:cNvSpPr/>
          <p:nvPr/>
        </p:nvSpPr>
        <p:spPr>
          <a:xfrm>
            <a:off x="5572125" y="2557462"/>
            <a:ext cx="262890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4B4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01 / CLAIMS</a:t>
            </a:r>
            <a:endParaRPr dirty="0" lang="en" sz="900"/>
          </a:p>
        </p:txBody>
      </p:sp>
      <p:sp>
        <p:nvSpPr>
          <p:cNvPr id="8" name="TextBox 40"/>
          <p:cNvSpPr/>
          <p:nvPr/>
        </p:nvSpPr>
        <p:spPr>
          <a:xfrm>
            <a:off x="5572125" y="2786063"/>
            <a:ext cx="262890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6" sz="10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Unsupported Promotional Claims</a:t>
            </a:r>
            <a:endParaRPr dirty="0" lang="en" sz="1050"/>
          </a:p>
        </p:txBody>
      </p:sp>
      <p:sp>
        <p:nvSpPr>
          <p:cNvPr id="9" name="TextBox 42"/>
          <p:cNvSpPr/>
          <p:nvPr/>
        </p:nvSpPr>
        <p:spPr>
          <a:xfrm>
            <a:off x="5572125" y="3052763"/>
            <a:ext cx="2628900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Unverified statements entering public channels</a:t>
            </a:r>
            <a:endParaRPr dirty="0" lang="en" sz="900"/>
          </a:p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without validation.</a:t>
            </a:r>
            <a:endParaRPr dirty="0" lang="en" sz="900"/>
          </a:p>
        </p:txBody>
      </p:sp>
      <p:sp>
        <p:nvSpPr>
          <p:cNvPr id="10" name="TextBox 47"/>
          <p:cNvSpPr/>
          <p:nvPr/>
        </p:nvSpPr>
        <p:spPr>
          <a:xfrm>
            <a:off x="8753475" y="2557462"/>
            <a:ext cx="262890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4B4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02 / TONE</a:t>
            </a:r>
            <a:endParaRPr dirty="0" lang="en" sz="900"/>
          </a:p>
        </p:txBody>
      </p:sp>
      <p:sp>
        <p:nvSpPr>
          <p:cNvPr id="11" name="TextBox 49"/>
          <p:cNvSpPr/>
          <p:nvPr/>
        </p:nvSpPr>
        <p:spPr>
          <a:xfrm>
            <a:off x="8753475" y="2786063"/>
            <a:ext cx="262890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6" sz="10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Messaging &amp; Tone Drift</a:t>
            </a:r>
            <a:endParaRPr dirty="0" lang="en" sz="1050"/>
          </a:p>
        </p:txBody>
      </p:sp>
      <p:sp>
        <p:nvSpPr>
          <p:cNvPr id="12" name="TextBox 51"/>
          <p:cNvSpPr/>
          <p:nvPr/>
        </p:nvSpPr>
        <p:spPr>
          <a:xfrm>
            <a:off x="8753475" y="3052763"/>
            <a:ext cx="2628900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Inconsistent voice across decentralized</a:t>
            </a:r>
            <a:endParaRPr dirty="0" lang="en" sz="900"/>
          </a:p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authoring units.</a:t>
            </a:r>
            <a:endParaRPr dirty="0" lang="en" sz="900"/>
          </a:p>
        </p:txBody>
      </p:sp>
      <p:sp>
        <p:nvSpPr>
          <p:cNvPr id="13" name="TextBox 56"/>
          <p:cNvSpPr/>
          <p:nvPr/>
        </p:nvSpPr>
        <p:spPr>
          <a:xfrm>
            <a:off x="5572125" y="3910013"/>
            <a:ext cx="262890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4B4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03 / DESIGN</a:t>
            </a:r>
            <a:endParaRPr dirty="0" lang="en" sz="900"/>
          </a:p>
        </p:txBody>
      </p:sp>
      <p:sp>
        <p:nvSpPr>
          <p:cNvPr id="14" name="TextBox 58"/>
          <p:cNvSpPr/>
          <p:nvPr/>
        </p:nvSpPr>
        <p:spPr>
          <a:xfrm>
            <a:off x="5572125" y="4138612"/>
            <a:ext cx="262890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6" sz="10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Visual &amp; Design Discord</a:t>
            </a:r>
            <a:endParaRPr dirty="0" lang="en" sz="1050"/>
          </a:p>
        </p:txBody>
      </p:sp>
      <p:sp>
        <p:nvSpPr>
          <p:cNvPr id="15" name="TextBox 60"/>
          <p:cNvSpPr/>
          <p:nvPr/>
        </p:nvSpPr>
        <p:spPr>
          <a:xfrm>
            <a:off x="5572125" y="4405313"/>
            <a:ext cx="2628900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Aesthetic divergence and accessibility (WCAG)</a:t>
            </a:r>
            <a:endParaRPr dirty="0" lang="en" sz="900"/>
          </a:p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violations.</a:t>
            </a:r>
            <a:endParaRPr dirty="0" lang="en" sz="900"/>
          </a:p>
        </p:txBody>
      </p:sp>
      <p:sp>
        <p:nvSpPr>
          <p:cNvPr id="16" name="TextBox 65"/>
          <p:cNvSpPr/>
          <p:nvPr/>
        </p:nvSpPr>
        <p:spPr>
          <a:xfrm>
            <a:off x="8753475" y="3910013"/>
            <a:ext cx="262890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FF4B4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04 / DATA</a:t>
            </a:r>
            <a:endParaRPr dirty="0" lang="en" sz="900"/>
          </a:p>
        </p:txBody>
      </p:sp>
      <p:sp>
        <p:nvSpPr>
          <p:cNvPr id="17" name="TextBox 67"/>
          <p:cNvSpPr/>
          <p:nvPr/>
        </p:nvSpPr>
        <p:spPr>
          <a:xfrm>
            <a:off x="8753475" y="4138612"/>
            <a:ext cx="262890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6" sz="10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Outdated Facts</a:t>
            </a:r>
            <a:endParaRPr dirty="0" lang="en" sz="1050"/>
          </a:p>
        </p:txBody>
      </p:sp>
      <p:sp>
        <p:nvSpPr>
          <p:cNvPr id="18" name="TextBox 69"/>
          <p:cNvSpPr/>
          <p:nvPr/>
        </p:nvSpPr>
        <p:spPr>
          <a:xfrm>
            <a:off x="8753475" y="4405313"/>
            <a:ext cx="2628900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Stale statistics and deprecated information</a:t>
            </a:r>
            <a:endParaRPr dirty="0" lang="en" sz="900"/>
          </a:p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persisting in collateral.</a:t>
            </a:r>
            <a:endParaRPr dirty="0" lang="en" sz="900"/>
          </a:p>
        </p:txBody>
      </p:sp>
      <p:sp>
        <p:nvSpPr>
          <p:cNvPr id="19" name="TextBox 78"/>
          <p:cNvSpPr/>
          <p:nvPr/>
        </p:nvSpPr>
        <p:spPr>
          <a:xfrm>
            <a:off x="609600" y="6096000"/>
            <a:ext cx="3786485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45" sz="900">
                <a:solidFill>
                  <a:srgbClr val="8C92A4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ANALYSIS OF FRICTION PILLARS AND CREDIBILITY RISK METRICS</a:t>
            </a:r>
            <a:endParaRPr dirty="0" lang="en" sz="900"/>
          </a:p>
        </p:txBody>
      </p:sp>
      <p:sp>
        <p:nvSpPr>
          <p:cNvPr id="20" name="TextBox 80"/>
          <p:cNvSpPr/>
          <p:nvPr/>
        </p:nvSpPr>
        <p:spPr>
          <a:xfrm>
            <a:off x="11170741" y="6096000"/>
            <a:ext cx="41165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FFFFFF">
                    <a:alpha val="40000"/>
                  </a:srgbClr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SEC-01</a:t>
            </a:r>
            <a:endParaRPr dirty="0" lang="en" sz="9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47"/>
          <p:cNvSpPr/>
          <p:nvPr/>
        </p:nvSpPr>
        <p:spPr>
          <a:xfrm>
            <a:off x="771525" y="1952625"/>
            <a:ext cx="74309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818CF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PERSONA 01</a:t>
            </a:r>
            <a:endParaRPr dirty="0" lang="en" sz="900"/>
          </a:p>
        </p:txBody>
      </p:sp>
      <p:sp>
        <p:nvSpPr>
          <p:cNvPr id="4" name="TextBox 55"/>
          <p:cNvSpPr/>
          <p:nvPr/>
        </p:nvSpPr>
        <p:spPr>
          <a:xfrm>
            <a:off x="771525" y="2295525"/>
            <a:ext cx="49720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37" sz="15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Content Creators &amp; Copywriters</a:t>
            </a:r>
            <a:endParaRPr dirty="0" lang="en" sz="1500"/>
          </a:p>
        </p:txBody>
      </p:sp>
      <p:sp>
        <p:nvSpPr>
          <p:cNvPr id="5" name="TextBox 58"/>
          <p:cNvSpPr/>
          <p:nvPr/>
        </p:nvSpPr>
        <p:spPr>
          <a:xfrm>
            <a:off x="771525" y="2924175"/>
            <a:ext cx="4972050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Need rapid feedback without waiting days for legal signoff, enabling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frictionless creative iteration.</a:t>
            </a:r>
            <a:endParaRPr dirty="0" lang="en" sz="1050"/>
          </a:p>
        </p:txBody>
      </p:sp>
      <p:sp>
        <p:nvSpPr>
          <p:cNvPr id="6" name="TextBox 71"/>
          <p:cNvSpPr/>
          <p:nvPr/>
        </p:nvSpPr>
        <p:spPr>
          <a:xfrm>
            <a:off x="6448425" y="1952625"/>
            <a:ext cx="74309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60A5FA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PERSONA 02</a:t>
            </a:r>
            <a:endParaRPr dirty="0" lang="en" sz="900"/>
          </a:p>
        </p:txBody>
      </p:sp>
      <p:sp>
        <p:nvSpPr>
          <p:cNvPr id="7" name="TextBox 79"/>
          <p:cNvSpPr/>
          <p:nvPr/>
        </p:nvSpPr>
        <p:spPr>
          <a:xfrm>
            <a:off x="6448425" y="2295525"/>
            <a:ext cx="49720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37" sz="15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Brand &amp; Compliance Managers</a:t>
            </a:r>
            <a:endParaRPr dirty="0" lang="en" sz="1500"/>
          </a:p>
        </p:txBody>
      </p:sp>
      <p:sp>
        <p:nvSpPr>
          <p:cNvPr id="8" name="TextBox 82"/>
          <p:cNvSpPr/>
          <p:nvPr/>
        </p:nvSpPr>
        <p:spPr>
          <a:xfrm>
            <a:off x="6448425" y="2924175"/>
            <a:ext cx="4972050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Need total visibility into upcoming releases and complete auditable trails to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mitigate regulatory risk.</a:t>
            </a:r>
            <a:endParaRPr dirty="0" lang="en" sz="1050"/>
          </a:p>
        </p:txBody>
      </p:sp>
      <p:sp>
        <p:nvSpPr>
          <p:cNvPr id="9" name="TextBox 95"/>
          <p:cNvSpPr/>
          <p:nvPr/>
        </p:nvSpPr>
        <p:spPr>
          <a:xfrm>
            <a:off x="771525" y="4138613"/>
            <a:ext cx="74309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2DD4BF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PERSONA 03</a:t>
            </a:r>
            <a:endParaRPr dirty="0" lang="en" sz="900"/>
          </a:p>
        </p:txBody>
      </p:sp>
      <p:sp>
        <p:nvSpPr>
          <p:cNvPr id="10" name="TextBox 103"/>
          <p:cNvSpPr/>
          <p:nvPr/>
        </p:nvSpPr>
        <p:spPr>
          <a:xfrm>
            <a:off x="771525" y="4481513"/>
            <a:ext cx="49720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37" sz="15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Agencies &amp; External Partners</a:t>
            </a:r>
            <a:endParaRPr dirty="0" lang="en" sz="1500"/>
          </a:p>
        </p:txBody>
      </p:sp>
      <p:sp>
        <p:nvSpPr>
          <p:cNvPr id="11" name="TextBox 106"/>
          <p:cNvSpPr/>
          <p:nvPr/>
        </p:nvSpPr>
        <p:spPr>
          <a:xfrm>
            <a:off x="771525" y="5110162"/>
            <a:ext cx="4972050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Need clear boundary guidelines and automated compliance checks to deliver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on-brand assets efficiently.</a:t>
            </a:r>
            <a:endParaRPr dirty="0" lang="en" sz="1050"/>
          </a:p>
        </p:txBody>
      </p:sp>
      <p:sp>
        <p:nvSpPr>
          <p:cNvPr id="12" name="TextBox 119"/>
          <p:cNvSpPr/>
          <p:nvPr/>
        </p:nvSpPr>
        <p:spPr>
          <a:xfrm>
            <a:off x="6448425" y="4138613"/>
            <a:ext cx="74309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C084FC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PERSONA 04</a:t>
            </a:r>
            <a:endParaRPr dirty="0" lang="en" sz="900"/>
          </a:p>
        </p:txBody>
      </p:sp>
      <p:sp>
        <p:nvSpPr>
          <p:cNvPr id="13" name="TextBox 127"/>
          <p:cNvSpPr/>
          <p:nvPr/>
        </p:nvSpPr>
        <p:spPr>
          <a:xfrm>
            <a:off x="6448425" y="4481513"/>
            <a:ext cx="49720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37" sz="15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Executive Leadership</a:t>
            </a:r>
            <a:endParaRPr dirty="0" lang="en" sz="1500"/>
          </a:p>
        </p:txBody>
      </p:sp>
      <p:sp>
        <p:nvSpPr>
          <p:cNvPr id="14" name="TextBox 130"/>
          <p:cNvSpPr/>
          <p:nvPr/>
        </p:nvSpPr>
        <p:spPr>
          <a:xfrm>
            <a:off x="6448425" y="5110162"/>
            <a:ext cx="4972050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Need quantitative visibility into overall brand health, velocity metrics, and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 risk exposure.</a:t>
            </a:r>
            <a:endParaRPr dirty="0" lang="en" sz="1050"/>
          </a:p>
        </p:txBody>
      </p:sp>
      <p:sp>
        <p:nvSpPr>
          <p:cNvPr id="15" name="TextBox 18"/>
          <p:cNvSpPr/>
          <p:nvPr/>
        </p:nvSpPr>
        <p:spPr>
          <a:xfrm>
            <a:off x="533400" y="533400"/>
            <a:ext cx="3722936" cy="247650"/>
          </a:xfrm>
          <a:prstGeom prst="roundRect">
            <a:avLst>
              <a:gd fmla="val 50000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180" sz="900">
                <a:solidFill>
                  <a:srgbClr val="818CF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MULTI-STAKEHOLDER ENTERPRISE ALIGNMENT</a:t>
            </a:r>
            <a:endParaRPr dirty="0" lang="en" sz="900"/>
          </a:p>
        </p:txBody>
      </p:sp>
      <p:sp>
        <p:nvSpPr>
          <p:cNvPr id="16" name="TextBox 23"/>
          <p:cNvSpPr/>
          <p:nvPr/>
        </p:nvSpPr>
        <p:spPr>
          <a:xfrm>
            <a:off x="533400" y="857250"/>
            <a:ext cx="6228457" cy="4286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67" sz="27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Target Users &amp; Market Persona Matrix</a:t>
            </a:r>
            <a:endParaRPr dirty="0" lang="en" sz="2700"/>
          </a:p>
        </p:txBody>
      </p:sp>
      <p:sp>
        <p:nvSpPr>
          <p:cNvPr id="17" name="TextBox 25"/>
          <p:cNvSpPr/>
          <p:nvPr/>
        </p:nvSpPr>
        <p:spPr>
          <a:xfrm>
            <a:off x="7475488" y="1028700"/>
            <a:ext cx="4183112" cy="3810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r" indent="0" marL="0">
              <a:lnSpc>
                <a:spcPts val="1500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Tailored workflows designed for creators, managers, agencies, and</a:t>
            </a:r>
            <a:endParaRPr dirty="0" lang="en" sz="1050"/>
          </a:p>
          <a:p>
            <a:pPr algn="r" indent="0" marL="0">
              <a:lnSpc>
                <a:spcPts val="1500"/>
              </a:lnSpc>
              <a:buNone/>
            </a:pPr>
            <a:r>
              <a:rPr altLang="en-US" dirty="0" lang="en" sz="105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executives to ensure seamless collaboration.</a:t>
            </a:r>
            <a:endParaRPr dirty="0" lang="en" sz="1050"/>
          </a:p>
        </p:txBody>
      </p:sp>
      <p:sp>
        <p:nvSpPr>
          <p:cNvPr id="18" name="TextBox 139"/>
          <p:cNvSpPr/>
          <p:nvPr/>
        </p:nvSpPr>
        <p:spPr>
          <a:xfrm>
            <a:off x="533400" y="6172200"/>
            <a:ext cx="5276255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22" sz="900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4-quadrant persona grid mapping critical friction points, daily goals, and direct value unlocks.</a:t>
            </a:r>
            <a:endParaRPr dirty="0" lang="en" sz="900"/>
          </a:p>
        </p:txBody>
      </p:sp>
      <p:sp>
        <p:nvSpPr>
          <p:cNvPr id="19" name="TextBox 145"/>
          <p:cNvSpPr/>
          <p:nvPr/>
        </p:nvSpPr>
        <p:spPr>
          <a:xfrm>
            <a:off x="10341025" y="6172200"/>
            <a:ext cx="1317575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Ecosystem Synchronized</a:t>
            </a:r>
            <a:endParaRPr dirty="0" lang="en" sz="9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1"/>
          <p:cNvSpPr/>
          <p:nvPr/>
        </p:nvSpPr>
        <p:spPr>
          <a:xfrm>
            <a:off x="923925" y="2543175"/>
            <a:ext cx="3721001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90" sz="900">
                <a:solidFill>
                  <a:srgbClr val="9CA3AF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CORE ARCHITECTURAL VISION</a:t>
            </a:r>
            <a:endParaRPr dirty="0" lang="en" sz="900"/>
          </a:p>
        </p:txBody>
      </p:sp>
      <p:sp>
        <p:nvSpPr>
          <p:cNvPr id="4" name="TextBox 33"/>
          <p:cNvSpPr/>
          <p:nvPr/>
        </p:nvSpPr>
        <p:spPr>
          <a:xfrm>
            <a:off x="923925" y="2924175"/>
            <a:ext cx="3721001" cy="123825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2438"/>
              </a:lnSpc>
              <a:buNone/>
            </a:pPr>
            <a:r>
              <a:rPr altLang="en-US" dirty="0" lang="en" sz="1500">
                <a:solidFill>
                  <a:srgbClr val="F3F4F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 continuous, intelligent brand-</a:t>
            </a:r>
            <a:endParaRPr dirty="0" lang="en" sz="1500"/>
          </a:p>
          <a:p>
            <a:pPr algn="l" indent="0" marL="0">
              <a:lnSpc>
                <a:spcPts val="2438"/>
              </a:lnSpc>
              <a:buNone/>
            </a:pPr>
            <a:r>
              <a:rPr altLang="en-US" dirty="0" lang="en" sz="1500">
                <a:solidFill>
                  <a:srgbClr val="F3F4F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governance copilot validating content</a:t>
            </a:r>
            <a:endParaRPr dirty="0" lang="en" sz="1500"/>
          </a:p>
          <a:p>
            <a:pPr algn="l" indent="0" marL="0">
              <a:lnSpc>
                <a:spcPts val="2438"/>
              </a:lnSpc>
              <a:buNone/>
            </a:pPr>
            <a:r>
              <a:rPr altLang="en-US" dirty="0" lang="en" sz="1500">
                <a:solidFill>
                  <a:srgbClr val="F3F4F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before publication against guidelines and</a:t>
            </a:r>
            <a:endParaRPr dirty="0" lang="en" sz="1500"/>
          </a:p>
          <a:p>
            <a:pPr algn="l" indent="0" marL="0">
              <a:lnSpc>
                <a:spcPts val="2438"/>
              </a:lnSpc>
              <a:buNone/>
            </a:pPr>
            <a:r>
              <a:rPr altLang="en-US" dirty="0" lang="en" sz="1500">
                <a:solidFill>
                  <a:srgbClr val="F3F4F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canonical truth.</a:t>
            </a:r>
            <a:endParaRPr dirty="0" lang="en" sz="1500"/>
          </a:p>
        </p:txBody>
      </p:sp>
      <p:sp>
        <p:nvSpPr>
          <p:cNvPr id="5" name="TextBox 35"/>
          <p:cNvSpPr/>
          <p:nvPr/>
        </p:nvSpPr>
        <p:spPr>
          <a:xfrm>
            <a:off x="923925" y="4391025"/>
            <a:ext cx="3721001" cy="542925"/>
          </a:xfrm>
          <a:prstGeom prst="rect">
            <a:avLst/>
          </a:prstGeom>
          <a:noFill/>
          <a:ln/>
        </p:spPr>
        <p:txBody>
          <a:bodyPr anchor="t" bIns="0" lIns="0" rIns="0" rtlCol="0" tIns="152400" wrap="none"/>
          <a:lstStyle/>
          <a:p>
            <a:pPr algn="l" indent="0" marL="0">
              <a:lnSpc>
                <a:spcPts val="1500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Hero split layout demonstrating core platform value and</a:t>
            </a:r>
            <a:endParaRPr dirty="0" lang="en" sz="1050"/>
          </a:p>
          <a:p>
            <a:pPr algn="l" indent="0" marL="0">
              <a:lnSpc>
                <a:spcPts val="1500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interactive preview workflows.</a:t>
            </a:r>
            <a:endParaRPr dirty="0" lang="en" sz="1050"/>
          </a:p>
        </p:txBody>
      </p:sp>
      <p:sp>
        <p:nvSpPr>
          <p:cNvPr id="6" name="TextBox 53"/>
          <p:cNvSpPr/>
          <p:nvPr/>
        </p:nvSpPr>
        <p:spPr>
          <a:xfrm>
            <a:off x="6073676" y="2021681"/>
            <a:ext cx="5266581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200">
                <a:solidFill>
                  <a:srgbClr val="F3F4F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Explainable AI Citations</a:t>
            </a:r>
            <a:endParaRPr dirty="0" lang="en" sz="1200"/>
          </a:p>
        </p:txBody>
      </p:sp>
      <p:sp>
        <p:nvSpPr>
          <p:cNvPr id="7" name="TextBox 55"/>
          <p:cNvSpPr/>
          <p:nvPr/>
        </p:nvSpPr>
        <p:spPr>
          <a:xfrm>
            <a:off x="6073676" y="2288381"/>
            <a:ext cx="5266581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Points directly to approved guidelines and canonical references with total clarity and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trust.</a:t>
            </a:r>
            <a:endParaRPr dirty="0" lang="en" sz="1050"/>
          </a:p>
        </p:txBody>
      </p:sp>
      <p:sp>
        <p:nvSpPr>
          <p:cNvPr id="8" name="TextBox 70"/>
          <p:cNvSpPr/>
          <p:nvPr/>
        </p:nvSpPr>
        <p:spPr>
          <a:xfrm>
            <a:off x="6073676" y="3274219"/>
            <a:ext cx="5094982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200">
                <a:solidFill>
                  <a:srgbClr val="F3F4F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Context-Preserving Remediation</a:t>
            </a:r>
            <a:endParaRPr dirty="0" lang="en" sz="1200"/>
          </a:p>
        </p:txBody>
      </p:sp>
      <p:sp>
        <p:nvSpPr>
          <p:cNvPr id="9" name="TextBox 72"/>
          <p:cNvSpPr/>
          <p:nvPr/>
        </p:nvSpPr>
        <p:spPr>
          <a:xfrm>
            <a:off x="6073676" y="3540919"/>
            <a:ext cx="5094982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Generates intelligent remediation suggestions tailored to maintain original brand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voice and tone.</a:t>
            </a:r>
            <a:endParaRPr dirty="0" lang="en" sz="1050"/>
          </a:p>
        </p:txBody>
      </p:sp>
      <p:sp>
        <p:nvSpPr>
          <p:cNvPr id="10" name="TextBox 87"/>
          <p:cNvSpPr/>
          <p:nvPr/>
        </p:nvSpPr>
        <p:spPr>
          <a:xfrm>
            <a:off x="6073676" y="4526756"/>
            <a:ext cx="5008215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200">
                <a:solidFill>
                  <a:srgbClr val="F3F4F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Human-in-the-Loop Sovereignty</a:t>
            </a:r>
            <a:endParaRPr dirty="0" lang="en" sz="1200"/>
          </a:p>
        </p:txBody>
      </p:sp>
      <p:sp>
        <p:nvSpPr>
          <p:cNvPr id="11" name="TextBox 89"/>
          <p:cNvSpPr/>
          <p:nvPr/>
        </p:nvSpPr>
        <p:spPr>
          <a:xfrm>
            <a:off x="6073676" y="4793456"/>
            <a:ext cx="5008215" cy="4333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Automated assistance accelerates decisions while final authority remains strictly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with authorized reviewers.</a:t>
            </a:r>
            <a:endParaRPr dirty="0" lang="en" sz="1050"/>
          </a:p>
        </p:txBody>
      </p:sp>
      <p:sp>
        <p:nvSpPr>
          <p:cNvPr id="12" name="TextBox 15"/>
          <p:cNvSpPr/>
          <p:nvPr/>
        </p:nvSpPr>
        <p:spPr>
          <a:xfrm>
            <a:off x="609600" y="609600"/>
            <a:ext cx="3768626" cy="247650"/>
          </a:xfrm>
          <a:prstGeom prst="roundRect">
            <a:avLst>
              <a:gd fmla="val 50000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90" sz="900">
                <a:solidFill>
                  <a:srgbClr val="38BDF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INTELLIGENT PRE-PUBLICATION BRAND GOVERNANCE</a:t>
            </a:r>
            <a:endParaRPr dirty="0" lang="en" sz="900"/>
          </a:p>
        </p:txBody>
      </p:sp>
      <p:sp>
        <p:nvSpPr>
          <p:cNvPr id="13" name="TextBox 18"/>
          <p:cNvSpPr/>
          <p:nvPr/>
        </p:nvSpPr>
        <p:spPr>
          <a:xfrm>
            <a:off x="609600" y="933450"/>
            <a:ext cx="10972800" cy="4286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67" sz="2700">
                <a:solidFill>
                  <a:srgbClr val="F3F4F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The Proposed Solution: BrandSphere AI</a:t>
            </a:r>
            <a:endParaRPr dirty="0" lang="en" sz="2700"/>
          </a:p>
        </p:txBody>
      </p:sp>
      <p:sp>
        <p:nvSpPr>
          <p:cNvPr id="14" name="TextBox 99"/>
          <p:cNvSpPr/>
          <p:nvPr/>
        </p:nvSpPr>
        <p:spPr>
          <a:xfrm>
            <a:off x="609600" y="6096000"/>
            <a:ext cx="152787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BrandSphere AI Architecture</a:t>
            </a:r>
            <a:endParaRPr dirty="0" lang="en" sz="900"/>
          </a:p>
        </p:txBody>
      </p:sp>
      <p:sp>
        <p:nvSpPr>
          <p:cNvPr id="15" name="TextBox 101"/>
          <p:cNvSpPr/>
          <p:nvPr/>
        </p:nvSpPr>
        <p:spPr>
          <a:xfrm>
            <a:off x="10004375" y="6096000"/>
            <a:ext cx="1578025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 Platform Overview</a:t>
            </a:r>
            <a:endParaRPr dirty="0" lang="en" sz="9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0"/>
          <p:cNvSpPr/>
          <p:nvPr/>
        </p:nvSpPr>
        <p:spPr>
          <a:xfrm>
            <a:off x="609600" y="609600"/>
            <a:ext cx="1621482" cy="247650"/>
          </a:xfrm>
          <a:prstGeom prst="roundRect">
            <a:avLst>
              <a:gd fmla="val 50000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45" sz="900">
                <a:solidFill>
                  <a:srgbClr val="60A5FA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SYSTEM ARCHITECTURE</a:t>
            </a:r>
            <a:endParaRPr dirty="0" lang="en" sz="900"/>
          </a:p>
        </p:txBody>
      </p:sp>
      <p:sp>
        <p:nvSpPr>
          <p:cNvPr id="4" name="TextBox 24"/>
          <p:cNvSpPr/>
          <p:nvPr/>
        </p:nvSpPr>
        <p:spPr>
          <a:xfrm>
            <a:off x="2916882" y="657225"/>
            <a:ext cx="2160687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90" sz="900">
                <a:solidFill>
                  <a:srgbClr val="6B7280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4-STAGE END-TO-END PIPELINE</a:t>
            </a:r>
            <a:endParaRPr dirty="0" lang="en" sz="900"/>
          </a:p>
        </p:txBody>
      </p:sp>
      <p:sp>
        <p:nvSpPr>
          <p:cNvPr id="5" name="TextBox 31"/>
          <p:cNvSpPr/>
          <p:nvPr/>
        </p:nvSpPr>
        <p:spPr>
          <a:xfrm>
            <a:off x="609600" y="971550"/>
            <a:ext cx="6377136" cy="571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90" sz="36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End-to-End Product Workflow</a:t>
            </a:r>
            <a:endParaRPr dirty="0" lang="en" sz="3600"/>
          </a:p>
        </p:txBody>
      </p:sp>
      <p:sp>
        <p:nvSpPr>
          <p:cNvPr id="6" name="TextBox 33"/>
          <p:cNvSpPr/>
          <p:nvPr/>
        </p:nvSpPr>
        <p:spPr>
          <a:xfrm>
            <a:off x="609600" y="1504950"/>
            <a:ext cx="6377136" cy="4953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 seamless 4-step pipeline ensuring rigorous compliance without slowing down content</a:t>
            </a:r>
            <a:endParaRPr dirty="0" lang="en" sz="1200"/>
          </a:p>
          <a:p>
            <a:pPr algn="l" indent="0" marL="0">
              <a:lnSpc>
                <a:spcPts val="1950"/>
              </a:lnSpc>
              <a:buNone/>
            </a:pPr>
            <a:r>
              <a:rPr altLang="en-US" dirty="0" lang="en" sz="12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velocity.</a:t>
            </a:r>
            <a:endParaRPr dirty="0" lang="en" sz="1200"/>
          </a:p>
        </p:txBody>
      </p:sp>
      <p:sp>
        <p:nvSpPr>
          <p:cNvPr id="7" name="TextBox 54"/>
          <p:cNvSpPr/>
          <p:nvPr/>
        </p:nvSpPr>
        <p:spPr>
          <a:xfrm>
            <a:off x="847725" y="2662237"/>
            <a:ext cx="16013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60A5FA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01</a:t>
            </a:r>
            <a:endParaRPr dirty="0" lang="en" sz="900"/>
          </a:p>
        </p:txBody>
      </p:sp>
      <p:sp>
        <p:nvSpPr>
          <p:cNvPr id="8" name="TextBox 62"/>
          <p:cNvSpPr/>
          <p:nvPr/>
        </p:nvSpPr>
        <p:spPr>
          <a:xfrm>
            <a:off x="847725" y="3043238"/>
            <a:ext cx="2124075" cy="4714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856"/>
              </a:lnSpc>
              <a:buNone/>
            </a:pPr>
            <a:r>
              <a:rPr altLang="en-US" b="1" dirty="0" kern="0" lang="en" spc="-34" sz="13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Universal Multi-</a:t>
            </a:r>
            <a:endParaRPr dirty="0" lang="en" sz="1350"/>
          </a:p>
          <a:p>
            <a:pPr algn="l" indent="0" marL="0">
              <a:lnSpc>
                <a:spcPts val="1856"/>
              </a:lnSpc>
              <a:buNone/>
            </a:pPr>
            <a:r>
              <a:rPr altLang="en-US" b="1" dirty="0" kern="0" lang="en" spc="-34" sz="13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Modal Ingestion</a:t>
            </a:r>
            <a:endParaRPr dirty="0" lang="en" sz="1350"/>
          </a:p>
        </p:txBody>
      </p:sp>
      <p:sp>
        <p:nvSpPr>
          <p:cNvPr id="9" name="TextBox 67"/>
          <p:cNvSpPr/>
          <p:nvPr/>
        </p:nvSpPr>
        <p:spPr>
          <a:xfrm>
            <a:off x="847725" y="4791075"/>
            <a:ext cx="2124075" cy="557213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Captures and standardizes diverse data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streams and multi-format assets at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scale prior to processing.</a:t>
            </a:r>
            <a:endParaRPr dirty="0" lang="en" sz="900"/>
          </a:p>
        </p:txBody>
      </p:sp>
      <p:sp>
        <p:nvSpPr>
          <p:cNvPr id="10" name="TextBox 81"/>
          <p:cNvSpPr/>
          <p:nvPr/>
        </p:nvSpPr>
        <p:spPr>
          <a:xfrm>
            <a:off x="3638550" y="2662237"/>
            <a:ext cx="16013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60A5FA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02</a:t>
            </a:r>
            <a:endParaRPr dirty="0" lang="en" sz="900"/>
          </a:p>
        </p:txBody>
      </p:sp>
      <p:sp>
        <p:nvSpPr>
          <p:cNvPr id="11" name="TextBox 89"/>
          <p:cNvSpPr/>
          <p:nvPr/>
        </p:nvSpPr>
        <p:spPr>
          <a:xfrm>
            <a:off x="3638550" y="3043238"/>
            <a:ext cx="2124075" cy="4714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856"/>
              </a:lnSpc>
              <a:buNone/>
            </a:pPr>
            <a:r>
              <a:rPr altLang="en-US" b="1" dirty="0" kern="0" lang="en" spc="-34" sz="13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Multi-Dimensional</a:t>
            </a:r>
            <a:endParaRPr dirty="0" lang="en" sz="1350"/>
          </a:p>
          <a:p>
            <a:pPr algn="l" indent="0" marL="0">
              <a:lnSpc>
                <a:spcPts val="1856"/>
              </a:lnSpc>
              <a:buNone/>
            </a:pPr>
            <a:r>
              <a:rPr altLang="en-US" b="1" dirty="0" kern="0" lang="en" spc="-34" sz="13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Policy &amp; Fact Engine</a:t>
            </a:r>
            <a:endParaRPr dirty="0" lang="en" sz="1350"/>
          </a:p>
        </p:txBody>
      </p:sp>
      <p:sp>
        <p:nvSpPr>
          <p:cNvPr id="12" name="TextBox 94"/>
          <p:cNvSpPr/>
          <p:nvPr/>
        </p:nvSpPr>
        <p:spPr>
          <a:xfrm>
            <a:off x="3638550" y="4791075"/>
            <a:ext cx="2124075" cy="557213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Applies rigorous automated checks,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validating factual accuracy against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 compliance policies.</a:t>
            </a:r>
            <a:endParaRPr dirty="0" lang="en" sz="900"/>
          </a:p>
        </p:txBody>
      </p:sp>
      <p:sp>
        <p:nvSpPr>
          <p:cNvPr id="13" name="TextBox 108"/>
          <p:cNvSpPr/>
          <p:nvPr/>
        </p:nvSpPr>
        <p:spPr>
          <a:xfrm>
            <a:off x="6429375" y="2662237"/>
            <a:ext cx="16013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60A5FA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03</a:t>
            </a:r>
            <a:endParaRPr dirty="0" lang="en" sz="900"/>
          </a:p>
        </p:txBody>
      </p:sp>
      <p:sp>
        <p:nvSpPr>
          <p:cNvPr id="14" name="TextBox 116"/>
          <p:cNvSpPr/>
          <p:nvPr/>
        </p:nvSpPr>
        <p:spPr>
          <a:xfrm>
            <a:off x="6429375" y="3043238"/>
            <a:ext cx="2124075" cy="4714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856"/>
              </a:lnSpc>
              <a:buNone/>
            </a:pPr>
            <a:r>
              <a:rPr altLang="en-US" b="1" dirty="0" kern="0" lang="en" spc="-34" sz="13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Explainable</a:t>
            </a:r>
            <a:endParaRPr dirty="0" lang="en" sz="1350"/>
          </a:p>
          <a:p>
            <a:pPr algn="l" indent="0" marL="0">
              <a:lnSpc>
                <a:spcPts val="1856"/>
              </a:lnSpc>
              <a:buNone/>
            </a:pPr>
            <a:r>
              <a:rPr altLang="en-US" b="1" dirty="0" kern="0" lang="en" spc="-34" sz="13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Resolution &amp; Review</a:t>
            </a:r>
            <a:endParaRPr dirty="0" lang="en" sz="1350"/>
          </a:p>
        </p:txBody>
      </p:sp>
      <p:sp>
        <p:nvSpPr>
          <p:cNvPr id="15" name="TextBox 121"/>
          <p:cNvSpPr/>
          <p:nvPr/>
        </p:nvSpPr>
        <p:spPr>
          <a:xfrm>
            <a:off x="6429375" y="4791075"/>
            <a:ext cx="2124075" cy="557213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Facilitates transparent human-in-the-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loop collaborative review with clear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resolution paths.</a:t>
            </a:r>
            <a:endParaRPr dirty="0" lang="en" sz="900"/>
          </a:p>
        </p:txBody>
      </p:sp>
      <p:sp>
        <p:nvSpPr>
          <p:cNvPr id="16" name="TextBox 135"/>
          <p:cNvSpPr/>
          <p:nvPr/>
        </p:nvSpPr>
        <p:spPr>
          <a:xfrm>
            <a:off x="9220200" y="2662237"/>
            <a:ext cx="16013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60A5FA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04</a:t>
            </a:r>
            <a:endParaRPr dirty="0" lang="en" sz="900"/>
          </a:p>
        </p:txBody>
      </p:sp>
      <p:sp>
        <p:nvSpPr>
          <p:cNvPr id="17" name="TextBox 143"/>
          <p:cNvSpPr/>
          <p:nvPr/>
        </p:nvSpPr>
        <p:spPr>
          <a:xfrm>
            <a:off x="9220200" y="3043238"/>
            <a:ext cx="2124075" cy="4714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856"/>
              </a:lnSpc>
              <a:buNone/>
            </a:pPr>
            <a:r>
              <a:rPr altLang="en-US" b="1" dirty="0" kern="0" lang="en" spc="-34" sz="13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Certified Publication</a:t>
            </a:r>
            <a:endParaRPr dirty="0" lang="en" sz="1350"/>
          </a:p>
          <a:p>
            <a:pPr algn="l" indent="0" marL="0">
              <a:lnSpc>
                <a:spcPts val="1856"/>
              </a:lnSpc>
              <a:buNone/>
            </a:pPr>
            <a:r>
              <a:rPr altLang="en-US" b="1" dirty="0" kern="0" lang="en" spc="-34" sz="13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&amp; Analytics</a:t>
            </a:r>
            <a:endParaRPr dirty="0" lang="en" sz="1350"/>
          </a:p>
        </p:txBody>
      </p:sp>
      <p:sp>
        <p:nvSpPr>
          <p:cNvPr id="18" name="TextBox 148"/>
          <p:cNvSpPr/>
          <p:nvPr/>
        </p:nvSpPr>
        <p:spPr>
          <a:xfrm>
            <a:off x="9220200" y="4791075"/>
            <a:ext cx="2124075" cy="557213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Certified publication featuring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cryptographic verification and real-time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governance telemetry.</a:t>
            </a:r>
            <a:endParaRPr dirty="0" lang="en" sz="900"/>
          </a:p>
        </p:txBody>
      </p:sp>
      <p:sp>
        <p:nvSpPr>
          <p:cNvPr id="19" name="TextBox 162"/>
          <p:cNvSpPr/>
          <p:nvPr/>
        </p:nvSpPr>
        <p:spPr>
          <a:xfrm>
            <a:off x="762000" y="6096000"/>
            <a:ext cx="1646188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6B7280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PIPELINE STATUS: OPTIMAL</a:t>
            </a:r>
            <a:endParaRPr dirty="0" lang="en" sz="900"/>
          </a:p>
        </p:txBody>
      </p:sp>
      <p:sp>
        <p:nvSpPr>
          <p:cNvPr id="20" name="TextBox 165"/>
          <p:cNvSpPr/>
          <p:nvPr/>
        </p:nvSpPr>
        <p:spPr>
          <a:xfrm>
            <a:off x="9250263" y="6096000"/>
            <a:ext cx="2332137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6B7280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SECURE FLOW • END-TO-END AUDITABLE</a:t>
            </a:r>
            <a:endParaRPr dirty="0" lang="en" sz="9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6"/>
          <p:cNvSpPr/>
          <p:nvPr/>
        </p:nvSpPr>
        <p:spPr>
          <a:xfrm>
            <a:off x="609600" y="766763"/>
            <a:ext cx="2103388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180" sz="900">
                <a:solidFill>
                  <a:srgbClr val="2563E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ARCHITECTURAL DEEP DIVE</a:t>
            </a:r>
            <a:endParaRPr dirty="0" lang="en" sz="900"/>
          </a:p>
        </p:txBody>
      </p:sp>
      <p:sp>
        <p:nvSpPr>
          <p:cNvPr id="4" name="TextBox 18"/>
          <p:cNvSpPr/>
          <p:nvPr/>
        </p:nvSpPr>
        <p:spPr>
          <a:xfrm>
            <a:off x="10416332" y="766763"/>
            <a:ext cx="1166068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4B5563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Core Capabilities</a:t>
            </a:r>
            <a:endParaRPr dirty="0" lang="en" sz="900"/>
          </a:p>
        </p:txBody>
      </p:sp>
      <p:sp>
        <p:nvSpPr>
          <p:cNvPr id="5" name="TextBox 21"/>
          <p:cNvSpPr/>
          <p:nvPr/>
        </p:nvSpPr>
        <p:spPr>
          <a:xfrm>
            <a:off x="609600" y="957263"/>
            <a:ext cx="10972800" cy="3571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56" sz="2250">
                <a:solidFill>
                  <a:srgbClr val="0F172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Deep Dive: Core Capabilities</a:t>
            </a:r>
            <a:endParaRPr dirty="0" lang="en" sz="2250"/>
          </a:p>
        </p:txBody>
      </p:sp>
      <p:sp>
        <p:nvSpPr>
          <p:cNvPr id="6" name="TextBox 36"/>
          <p:cNvSpPr/>
          <p:nvPr/>
        </p:nvSpPr>
        <p:spPr>
          <a:xfrm>
            <a:off x="928688" y="2995613"/>
            <a:ext cx="1158925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2563E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System Architecture</a:t>
            </a:r>
            <a:endParaRPr dirty="0" lang="en" sz="900"/>
          </a:p>
        </p:txBody>
      </p:sp>
      <p:sp>
        <p:nvSpPr>
          <p:cNvPr id="7" name="TextBox 39"/>
          <p:cNvSpPr/>
          <p:nvPr/>
        </p:nvSpPr>
        <p:spPr>
          <a:xfrm>
            <a:off x="609600" y="3433762"/>
            <a:ext cx="3200400" cy="62865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2475"/>
              </a:lnSpc>
              <a:buNone/>
            </a:pPr>
            <a:r>
              <a:rPr altLang="en-US" b="1" dirty="0" lang="en" sz="1800">
                <a:solidFill>
                  <a:srgbClr val="0F172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Five pillars powering</a:t>
            </a:r>
            <a:endParaRPr dirty="0" lang="en" sz="1800"/>
          </a:p>
          <a:p>
            <a:pPr algn="l" indent="0" marL="0">
              <a:lnSpc>
                <a:spcPts val="2475"/>
              </a:lnSpc>
              <a:buNone/>
            </a:pPr>
            <a:r>
              <a:rPr altLang="en-US" b="1" dirty="0" lang="en" sz="1800">
                <a:solidFill>
                  <a:srgbClr val="0F172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automated precision.</a:t>
            </a:r>
            <a:endParaRPr dirty="0" lang="en" sz="1800"/>
          </a:p>
        </p:txBody>
      </p:sp>
      <p:sp>
        <p:nvSpPr>
          <p:cNvPr id="8" name="TextBox 41"/>
          <p:cNvSpPr/>
          <p:nvPr/>
        </p:nvSpPr>
        <p:spPr>
          <a:xfrm>
            <a:off x="609600" y="4214813"/>
            <a:ext cx="3200400" cy="866775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Five core architectural pillars powering automated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fact-checking, visual auditing, and collaborative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review. Designed for high-integrity workflows and</a:t>
            </a:r>
            <a:endParaRPr dirty="0" lang="en" sz="1050"/>
          </a:p>
          <a:p>
            <a:pPr algn="l" indent="0" marL="0">
              <a:lnSpc>
                <a:spcPts val="1706"/>
              </a:lnSpc>
              <a:buNone/>
            </a:pPr>
            <a:r>
              <a:rPr altLang="en-US" dirty="0" lang="en" sz="105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 scale.</a:t>
            </a:r>
            <a:endParaRPr dirty="0" lang="en" sz="1050"/>
          </a:p>
        </p:txBody>
      </p:sp>
      <p:sp>
        <p:nvSpPr>
          <p:cNvPr id="9" name="TextBox 54"/>
          <p:cNvSpPr/>
          <p:nvPr/>
        </p:nvSpPr>
        <p:spPr>
          <a:xfrm>
            <a:off x="4581525" y="1943100"/>
            <a:ext cx="381000" cy="381000"/>
          </a:xfrm>
          <a:prstGeom prst="roundRect">
            <a:avLst>
              <a:gd fmla="val 20000" name="adj"/>
            </a:avLst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2563E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01</a:t>
            </a:r>
            <a:endParaRPr dirty="0" lang="en" sz="1050"/>
          </a:p>
        </p:txBody>
      </p:sp>
      <p:sp>
        <p:nvSpPr>
          <p:cNvPr id="10" name="TextBox 58"/>
          <p:cNvSpPr/>
          <p:nvPr/>
        </p:nvSpPr>
        <p:spPr>
          <a:xfrm>
            <a:off x="5114925" y="1933575"/>
            <a:ext cx="3242518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200">
                <a:solidFill>
                  <a:srgbClr val="0F172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Fact-Checking &amp; Unsupported Claim Guard</a:t>
            </a:r>
            <a:endParaRPr dirty="0" lang="en" sz="1200"/>
          </a:p>
        </p:txBody>
      </p:sp>
      <p:sp>
        <p:nvSpPr>
          <p:cNvPr id="11" name="TextBox 60"/>
          <p:cNvSpPr/>
          <p:nvPr/>
        </p:nvSpPr>
        <p:spPr>
          <a:xfrm>
            <a:off x="5114925" y="2181225"/>
            <a:ext cx="3242518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Automated verification against grounded knowledge bases.</a:t>
            </a:r>
            <a:endParaRPr dirty="0" lang="en" sz="900"/>
          </a:p>
        </p:txBody>
      </p:sp>
      <p:sp>
        <p:nvSpPr>
          <p:cNvPr id="12" name="TextBox 73"/>
          <p:cNvSpPr/>
          <p:nvPr/>
        </p:nvSpPr>
        <p:spPr>
          <a:xfrm>
            <a:off x="4581525" y="2881313"/>
            <a:ext cx="381000" cy="381000"/>
          </a:xfrm>
          <a:prstGeom prst="roundRect">
            <a:avLst>
              <a:gd fmla="val 20000" name="adj"/>
            </a:avLst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2563E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02</a:t>
            </a:r>
            <a:endParaRPr dirty="0" lang="en" sz="1050"/>
          </a:p>
        </p:txBody>
      </p:sp>
      <p:sp>
        <p:nvSpPr>
          <p:cNvPr id="13" name="TextBox 77"/>
          <p:cNvSpPr/>
          <p:nvPr/>
        </p:nvSpPr>
        <p:spPr>
          <a:xfrm>
            <a:off x="5114925" y="2871788"/>
            <a:ext cx="3433167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200">
                <a:solidFill>
                  <a:srgbClr val="0F172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Multi-Modal Visual &amp; Accessibility Auditor</a:t>
            </a:r>
            <a:endParaRPr dirty="0" lang="en" sz="1200"/>
          </a:p>
        </p:txBody>
      </p:sp>
      <p:sp>
        <p:nvSpPr>
          <p:cNvPr id="14" name="TextBox 79"/>
          <p:cNvSpPr/>
          <p:nvPr/>
        </p:nvSpPr>
        <p:spPr>
          <a:xfrm>
            <a:off x="5114925" y="3119437"/>
            <a:ext cx="3433167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Real-time analysis of layout contrast, hierarchy, and compliance.</a:t>
            </a:r>
            <a:endParaRPr dirty="0" lang="en" sz="900"/>
          </a:p>
        </p:txBody>
      </p:sp>
      <p:sp>
        <p:nvSpPr>
          <p:cNvPr id="15" name="TextBox 92"/>
          <p:cNvSpPr/>
          <p:nvPr/>
        </p:nvSpPr>
        <p:spPr>
          <a:xfrm>
            <a:off x="4581525" y="3819525"/>
            <a:ext cx="381000" cy="381000"/>
          </a:xfrm>
          <a:prstGeom prst="roundRect">
            <a:avLst>
              <a:gd fmla="val 20000" name="adj"/>
            </a:avLst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2563E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03</a:t>
            </a:r>
            <a:endParaRPr dirty="0" lang="en" sz="1050"/>
          </a:p>
        </p:txBody>
      </p:sp>
      <p:sp>
        <p:nvSpPr>
          <p:cNvPr id="16" name="TextBox 96"/>
          <p:cNvSpPr/>
          <p:nvPr/>
        </p:nvSpPr>
        <p:spPr>
          <a:xfrm>
            <a:off x="5114925" y="3810000"/>
            <a:ext cx="3198912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200">
                <a:solidFill>
                  <a:srgbClr val="0F172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Tone &amp; Terminology Harmonizer</a:t>
            </a:r>
            <a:endParaRPr dirty="0" lang="en" sz="1200"/>
          </a:p>
        </p:txBody>
      </p:sp>
      <p:sp>
        <p:nvSpPr>
          <p:cNvPr id="17" name="TextBox 98"/>
          <p:cNvSpPr/>
          <p:nvPr/>
        </p:nvSpPr>
        <p:spPr>
          <a:xfrm>
            <a:off x="5114925" y="4057650"/>
            <a:ext cx="3198912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Ensures brand voice consistency and precise linguistic style.</a:t>
            </a:r>
            <a:endParaRPr dirty="0" lang="en" sz="900"/>
          </a:p>
        </p:txBody>
      </p:sp>
      <p:sp>
        <p:nvSpPr>
          <p:cNvPr id="18" name="TextBox 111"/>
          <p:cNvSpPr/>
          <p:nvPr/>
        </p:nvSpPr>
        <p:spPr>
          <a:xfrm>
            <a:off x="4581525" y="4757738"/>
            <a:ext cx="381000" cy="381000"/>
          </a:xfrm>
          <a:prstGeom prst="roundRect">
            <a:avLst>
              <a:gd fmla="val 20000" name="adj"/>
            </a:avLst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2563E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04</a:t>
            </a:r>
            <a:endParaRPr dirty="0" lang="en" sz="1050"/>
          </a:p>
        </p:txBody>
      </p:sp>
      <p:sp>
        <p:nvSpPr>
          <p:cNvPr id="19" name="TextBox 115"/>
          <p:cNvSpPr/>
          <p:nvPr/>
        </p:nvSpPr>
        <p:spPr>
          <a:xfrm>
            <a:off x="5114925" y="4748213"/>
            <a:ext cx="3397151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200">
                <a:solidFill>
                  <a:srgbClr val="0F172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Intelligent Suggestion &amp; Auto-Remediation</a:t>
            </a:r>
            <a:endParaRPr dirty="0" lang="en" sz="1200"/>
          </a:p>
        </p:txBody>
      </p:sp>
      <p:sp>
        <p:nvSpPr>
          <p:cNvPr id="20" name="TextBox 117"/>
          <p:cNvSpPr/>
          <p:nvPr/>
        </p:nvSpPr>
        <p:spPr>
          <a:xfrm>
            <a:off x="5114925" y="4995863"/>
            <a:ext cx="3397151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Proactive fixes for detected discrepancies and formatting flaws.</a:t>
            </a:r>
            <a:endParaRPr dirty="0" lang="en" sz="900"/>
          </a:p>
        </p:txBody>
      </p:sp>
      <p:sp>
        <p:nvSpPr>
          <p:cNvPr id="21" name="TextBox 130"/>
          <p:cNvSpPr/>
          <p:nvPr/>
        </p:nvSpPr>
        <p:spPr>
          <a:xfrm>
            <a:off x="4581525" y="5695950"/>
            <a:ext cx="381000" cy="381000"/>
          </a:xfrm>
          <a:prstGeom prst="roundRect">
            <a:avLst>
              <a:gd fmla="val 20000" name="adj"/>
            </a:avLst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2563E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05</a:t>
            </a:r>
            <a:endParaRPr dirty="0" lang="en" sz="1050"/>
          </a:p>
        </p:txBody>
      </p:sp>
      <p:sp>
        <p:nvSpPr>
          <p:cNvPr id="22" name="TextBox 134"/>
          <p:cNvSpPr/>
          <p:nvPr/>
        </p:nvSpPr>
        <p:spPr>
          <a:xfrm>
            <a:off x="5114925" y="5686425"/>
            <a:ext cx="3657749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200">
                <a:solidFill>
                  <a:srgbClr val="0F172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Collaborative Multi-Tier Approvals</a:t>
            </a:r>
            <a:endParaRPr dirty="0" lang="en" sz="1200"/>
          </a:p>
        </p:txBody>
      </p:sp>
      <p:sp>
        <p:nvSpPr>
          <p:cNvPr id="23" name="TextBox 136"/>
          <p:cNvSpPr/>
          <p:nvPr/>
        </p:nvSpPr>
        <p:spPr>
          <a:xfrm>
            <a:off x="5114925" y="5934075"/>
            <a:ext cx="365774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4B5563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Role-based access control and streamlined multi-stage review gates.</a:t>
            </a:r>
            <a:endParaRPr dirty="0" lang="en" sz="9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8"/>
          <p:cNvSpPr/>
          <p:nvPr/>
        </p:nvSpPr>
        <p:spPr>
          <a:xfrm>
            <a:off x="609600" y="457200"/>
            <a:ext cx="2610296" cy="247650"/>
          </a:xfrm>
          <a:prstGeom prst="roundRect">
            <a:avLst>
              <a:gd fmla="val 15385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38BDF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ENTERPRISE SYSTEM ARCHITECTURE</a:t>
            </a:r>
            <a:endParaRPr dirty="0" lang="en" sz="900"/>
          </a:p>
        </p:txBody>
      </p:sp>
      <p:sp>
        <p:nvSpPr>
          <p:cNvPr id="4" name="TextBox 32"/>
          <p:cNvSpPr/>
          <p:nvPr/>
        </p:nvSpPr>
        <p:spPr>
          <a:xfrm>
            <a:off x="3905696" y="504825"/>
            <a:ext cx="1337518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45" sz="900">
                <a:solidFill>
                  <a:srgbClr val="94A3B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MODULAR STACK V2.4</a:t>
            </a:r>
            <a:endParaRPr dirty="0" lang="en" sz="900"/>
          </a:p>
        </p:txBody>
      </p:sp>
      <p:sp>
        <p:nvSpPr>
          <p:cNvPr id="5" name="TextBox 39"/>
          <p:cNvSpPr/>
          <p:nvPr/>
        </p:nvSpPr>
        <p:spPr>
          <a:xfrm>
            <a:off x="609600" y="781050"/>
            <a:ext cx="6445895" cy="4286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67" sz="27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Technical Architecture &amp; System Design</a:t>
            </a:r>
            <a:endParaRPr dirty="0" lang="en" sz="2700"/>
          </a:p>
        </p:txBody>
      </p:sp>
      <p:sp>
        <p:nvSpPr>
          <p:cNvPr id="6" name="TextBox 41"/>
          <p:cNvSpPr/>
          <p:nvPr/>
        </p:nvSpPr>
        <p:spPr>
          <a:xfrm>
            <a:off x="609600" y="1200150"/>
            <a:ext cx="6400800" cy="4572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800"/>
              </a:lnSpc>
              <a:buNone/>
            </a:pPr>
            <a:r>
              <a:rPr altLang="en-US" dirty="0" lang="en" sz="12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Built on a high-throughput, secure, and modular technology stack designed for</a:t>
            </a:r>
            <a:endParaRPr dirty="0" lang="en" sz="1200"/>
          </a:p>
          <a:p>
            <a:pPr algn="l" indent="0" marL="0">
              <a:lnSpc>
                <a:spcPts val="1800"/>
              </a:lnSpc>
              <a:buNone/>
            </a:pPr>
            <a:r>
              <a:rPr altLang="en-US" dirty="0" lang="en" sz="12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enterprise-grade reliability.</a:t>
            </a:r>
            <a:endParaRPr dirty="0" lang="en" sz="1200"/>
          </a:p>
        </p:txBody>
      </p:sp>
      <p:sp>
        <p:nvSpPr>
          <p:cNvPr id="7" name="TextBox 54"/>
          <p:cNvSpPr/>
          <p:nvPr/>
        </p:nvSpPr>
        <p:spPr>
          <a:xfrm>
            <a:off x="847725" y="2250281"/>
            <a:ext cx="1714798" cy="200025"/>
          </a:xfrm>
          <a:prstGeom prst="roundRect">
            <a:avLst>
              <a:gd fmla="val 19048" name="adj"/>
            </a:avLst>
          </a:prstGeom>
          <a:noFill/>
          <a:ln/>
        </p:spPr>
        <p:txBody>
          <a:bodyPr anchor="t" bIns="19050" lIns="114300" rIns="114300" rtlCol="0" tIns="1905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75" sz="750">
                <a:solidFill>
                  <a:srgbClr val="38BDF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ARCHITECTURE BLUEPRINT</a:t>
            </a:r>
            <a:endParaRPr dirty="0" lang="en" sz="750"/>
          </a:p>
        </p:txBody>
      </p:sp>
      <p:sp>
        <p:nvSpPr>
          <p:cNvPr id="8" name="TextBox 58"/>
          <p:cNvSpPr/>
          <p:nvPr/>
        </p:nvSpPr>
        <p:spPr>
          <a:xfrm>
            <a:off x="847725" y="2578894"/>
            <a:ext cx="2978051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34" sz="13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Layered Stack Paradigm</a:t>
            </a:r>
            <a:endParaRPr dirty="0" lang="en" sz="1350"/>
          </a:p>
        </p:txBody>
      </p:sp>
      <p:sp>
        <p:nvSpPr>
          <p:cNvPr id="9" name="TextBox 60"/>
          <p:cNvSpPr/>
          <p:nvPr/>
        </p:nvSpPr>
        <p:spPr>
          <a:xfrm>
            <a:off x="847725" y="2921794"/>
            <a:ext cx="2978051" cy="74295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The architecture enforces strict separation of concerns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across four decoupled tiers, ensuring horizontal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scalability, fault isolation, and zero-trust security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compliance.</a:t>
            </a:r>
            <a:endParaRPr dirty="0" lang="en" sz="900"/>
          </a:p>
        </p:txBody>
      </p:sp>
      <p:sp>
        <p:nvSpPr>
          <p:cNvPr id="10" name="TextBox 67"/>
          <p:cNvSpPr/>
          <p:nvPr/>
        </p:nvSpPr>
        <p:spPr>
          <a:xfrm>
            <a:off x="847725" y="3940969"/>
            <a:ext cx="1431875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800">
                <a:solidFill>
                  <a:srgbClr val="38BDF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99.99%</a:t>
            </a:r>
            <a:endParaRPr dirty="0" lang="en" sz="1800"/>
          </a:p>
        </p:txBody>
      </p:sp>
      <p:sp>
        <p:nvSpPr>
          <p:cNvPr id="11" name="TextBox 69"/>
          <p:cNvSpPr/>
          <p:nvPr/>
        </p:nvSpPr>
        <p:spPr>
          <a:xfrm>
            <a:off x="847725" y="4264819"/>
            <a:ext cx="1431875" cy="157163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Target Uptime SLA</a:t>
            </a:r>
            <a:endParaRPr dirty="0" lang="en" sz="825"/>
          </a:p>
        </p:txBody>
      </p:sp>
      <p:sp>
        <p:nvSpPr>
          <p:cNvPr id="12" name="TextBox 74"/>
          <p:cNvSpPr/>
          <p:nvPr/>
        </p:nvSpPr>
        <p:spPr>
          <a:xfrm>
            <a:off x="2393900" y="3940969"/>
            <a:ext cx="1431875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800">
                <a:solidFill>
                  <a:srgbClr val="34D399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&lt; 45ms</a:t>
            </a:r>
            <a:endParaRPr dirty="0" lang="en" sz="1800"/>
          </a:p>
        </p:txBody>
      </p:sp>
      <p:sp>
        <p:nvSpPr>
          <p:cNvPr id="13" name="TextBox 76"/>
          <p:cNvSpPr/>
          <p:nvPr/>
        </p:nvSpPr>
        <p:spPr>
          <a:xfrm>
            <a:off x="2393900" y="4264819"/>
            <a:ext cx="1431875" cy="157163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P99 API Latency</a:t>
            </a:r>
            <a:endParaRPr dirty="0" lang="en" sz="825"/>
          </a:p>
        </p:txBody>
      </p:sp>
      <p:sp>
        <p:nvSpPr>
          <p:cNvPr id="14" name="TextBox 84"/>
          <p:cNvSpPr/>
          <p:nvPr/>
        </p:nvSpPr>
        <p:spPr>
          <a:xfrm>
            <a:off x="1200150" y="4736306"/>
            <a:ext cx="2151162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All tiers communicate via authenticated,</a:t>
            </a:r>
            <a:endParaRPr dirty="0" lang="en" sz="900"/>
          </a:p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encrypted binary protocols.</a:t>
            </a:r>
            <a:endParaRPr dirty="0" lang="en" sz="900"/>
          </a:p>
        </p:txBody>
      </p:sp>
      <p:sp>
        <p:nvSpPr>
          <p:cNvPr id="15" name="TextBox 100"/>
          <p:cNvSpPr/>
          <p:nvPr/>
        </p:nvSpPr>
        <p:spPr>
          <a:xfrm>
            <a:off x="4644926" y="2057400"/>
            <a:ext cx="342900" cy="342900"/>
          </a:xfrm>
          <a:prstGeom prst="roundRect">
            <a:avLst>
              <a:gd fmla="val 22222" name="adj"/>
            </a:avLst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38BDF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01</a:t>
            </a:r>
            <a:endParaRPr dirty="0" lang="en" sz="1050"/>
          </a:p>
        </p:txBody>
      </p:sp>
      <p:sp>
        <p:nvSpPr>
          <p:cNvPr id="16" name="TextBox 104"/>
          <p:cNvSpPr/>
          <p:nvPr/>
        </p:nvSpPr>
        <p:spPr>
          <a:xfrm>
            <a:off x="5140226" y="2047875"/>
            <a:ext cx="2989957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6" sz="10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Frontend Layer</a:t>
            </a:r>
            <a:endParaRPr dirty="0" lang="en" sz="1050"/>
          </a:p>
        </p:txBody>
      </p:sp>
      <p:sp>
        <p:nvSpPr>
          <p:cNvPr id="17" name="TextBox 106"/>
          <p:cNvSpPr/>
          <p:nvPr/>
        </p:nvSpPr>
        <p:spPr>
          <a:xfrm>
            <a:off x="5140226" y="2257425"/>
            <a:ext cx="2989957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Responsive client interface &amp; reactive rendering engine.</a:t>
            </a:r>
            <a:endParaRPr dirty="0" lang="en" sz="900"/>
          </a:p>
        </p:txBody>
      </p:sp>
      <p:sp>
        <p:nvSpPr>
          <p:cNvPr id="18" name="TextBox 112"/>
          <p:cNvSpPr/>
          <p:nvPr/>
        </p:nvSpPr>
        <p:spPr>
          <a:xfrm>
            <a:off x="8941594" y="2102644"/>
            <a:ext cx="838349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7DD3FC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Next.js 14</a:t>
            </a:r>
            <a:endParaRPr dirty="0" lang="en" sz="825"/>
          </a:p>
        </p:txBody>
      </p:sp>
      <p:sp>
        <p:nvSpPr>
          <p:cNvPr id="19" name="TextBox 114"/>
          <p:cNvSpPr/>
          <p:nvPr/>
        </p:nvSpPr>
        <p:spPr>
          <a:xfrm>
            <a:off x="9856143" y="2102644"/>
            <a:ext cx="524024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7DD3FC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React</a:t>
            </a:r>
            <a:endParaRPr dirty="0" lang="en" sz="825"/>
          </a:p>
        </p:txBody>
      </p:sp>
      <p:sp>
        <p:nvSpPr>
          <p:cNvPr id="20" name="TextBox 116"/>
          <p:cNvSpPr/>
          <p:nvPr/>
        </p:nvSpPr>
        <p:spPr>
          <a:xfrm>
            <a:off x="10456366" y="2102644"/>
            <a:ext cx="964109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7DD3FC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Tailwind CSS</a:t>
            </a:r>
            <a:endParaRPr dirty="0" lang="en" sz="825"/>
          </a:p>
        </p:txBody>
      </p:sp>
      <p:sp>
        <p:nvSpPr>
          <p:cNvPr id="21" name="TextBox 128"/>
          <p:cNvSpPr/>
          <p:nvPr/>
        </p:nvSpPr>
        <p:spPr>
          <a:xfrm>
            <a:off x="4644926" y="3051125"/>
            <a:ext cx="342900" cy="342900"/>
          </a:xfrm>
          <a:prstGeom prst="roundRect">
            <a:avLst>
              <a:gd fmla="val 22222" name="adj"/>
            </a:avLst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7DD3FC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02</a:t>
            </a:r>
            <a:endParaRPr dirty="0" lang="en" sz="1050"/>
          </a:p>
        </p:txBody>
      </p:sp>
      <p:sp>
        <p:nvSpPr>
          <p:cNvPr id="22" name="TextBox 132"/>
          <p:cNvSpPr/>
          <p:nvPr/>
        </p:nvSpPr>
        <p:spPr>
          <a:xfrm>
            <a:off x="5140226" y="3041600"/>
            <a:ext cx="3456087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6" sz="10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API &amp; Orchestration Layer</a:t>
            </a:r>
            <a:endParaRPr dirty="0" lang="en" sz="1050"/>
          </a:p>
        </p:txBody>
      </p:sp>
      <p:sp>
        <p:nvSpPr>
          <p:cNvPr id="23" name="TextBox 134"/>
          <p:cNvSpPr/>
          <p:nvPr/>
        </p:nvSpPr>
        <p:spPr>
          <a:xfrm>
            <a:off x="5140226" y="3251150"/>
            <a:ext cx="3456087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High-concurrency routing, asynchronous task queues &amp; caching.</a:t>
            </a:r>
            <a:endParaRPr dirty="0" lang="en" sz="900"/>
          </a:p>
        </p:txBody>
      </p:sp>
      <p:sp>
        <p:nvSpPr>
          <p:cNvPr id="24" name="TextBox 140"/>
          <p:cNvSpPr/>
          <p:nvPr/>
        </p:nvSpPr>
        <p:spPr>
          <a:xfrm>
            <a:off x="9507438" y="3096369"/>
            <a:ext cx="649784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BAE6FD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FastAPI</a:t>
            </a:r>
            <a:endParaRPr dirty="0" lang="en" sz="825"/>
          </a:p>
        </p:txBody>
      </p:sp>
      <p:sp>
        <p:nvSpPr>
          <p:cNvPr id="25" name="TextBox 142"/>
          <p:cNvSpPr/>
          <p:nvPr/>
        </p:nvSpPr>
        <p:spPr>
          <a:xfrm>
            <a:off x="10233422" y="3096369"/>
            <a:ext cx="586829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BAE6FD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Celery</a:t>
            </a:r>
            <a:endParaRPr dirty="0" lang="en" sz="825"/>
          </a:p>
        </p:txBody>
      </p:sp>
      <p:sp>
        <p:nvSpPr>
          <p:cNvPr id="26" name="TextBox 144"/>
          <p:cNvSpPr/>
          <p:nvPr/>
        </p:nvSpPr>
        <p:spPr>
          <a:xfrm>
            <a:off x="10896451" y="3096369"/>
            <a:ext cx="524024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BAE6FD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Redis</a:t>
            </a:r>
            <a:endParaRPr dirty="0" lang="en" sz="825"/>
          </a:p>
        </p:txBody>
      </p:sp>
      <p:sp>
        <p:nvSpPr>
          <p:cNvPr id="27" name="TextBox 156"/>
          <p:cNvSpPr/>
          <p:nvPr/>
        </p:nvSpPr>
        <p:spPr>
          <a:xfrm>
            <a:off x="4644926" y="4121200"/>
            <a:ext cx="342900" cy="342900"/>
          </a:xfrm>
          <a:prstGeom prst="roundRect">
            <a:avLst>
              <a:gd fmla="val 22222" name="adj"/>
            </a:avLst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34D399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03</a:t>
            </a:r>
            <a:endParaRPr dirty="0" lang="en" sz="1050"/>
          </a:p>
        </p:txBody>
      </p:sp>
      <p:sp>
        <p:nvSpPr>
          <p:cNvPr id="28" name="TextBox 160"/>
          <p:cNvSpPr/>
          <p:nvPr/>
        </p:nvSpPr>
        <p:spPr>
          <a:xfrm>
            <a:off x="5140226" y="4035475"/>
            <a:ext cx="2920603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6" sz="10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AI &amp; RAG Intelligence Engine</a:t>
            </a:r>
            <a:endParaRPr dirty="0" lang="en" sz="1050"/>
          </a:p>
        </p:txBody>
      </p:sp>
      <p:sp>
        <p:nvSpPr>
          <p:cNvPr id="29" name="TextBox 162"/>
          <p:cNvSpPr/>
          <p:nvPr/>
        </p:nvSpPr>
        <p:spPr>
          <a:xfrm>
            <a:off x="5140226" y="4245025"/>
            <a:ext cx="2920603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Vector similarity search, hybrid context retrieval &amp; LLM</a:t>
            </a:r>
            <a:endParaRPr dirty="0" lang="en" sz="900"/>
          </a:p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orchestration.</a:t>
            </a:r>
            <a:endParaRPr dirty="0" lang="en" sz="900"/>
          </a:p>
        </p:txBody>
      </p:sp>
      <p:sp>
        <p:nvSpPr>
          <p:cNvPr id="30" name="TextBox 168"/>
          <p:cNvSpPr/>
          <p:nvPr/>
        </p:nvSpPr>
        <p:spPr>
          <a:xfrm>
            <a:off x="8375600" y="4087862"/>
            <a:ext cx="1027063" cy="409575"/>
          </a:xfrm>
          <a:prstGeom prst="roundRect">
            <a:avLst>
              <a:gd fmla="val 9302" name="adj"/>
            </a:avLst>
          </a:prstGeom>
          <a:noFill/>
          <a:ln/>
        </p:spPr>
        <p:txBody>
          <a:bodyPr anchor="t" bIns="38100" lIns="95250" rIns="95250" rtlCol="0" tIns="38100" wrap="none"/>
          <a:lstStyle/>
          <a:p>
            <a:pPr algn="l" indent="0" marL="0">
              <a:lnSpc>
                <a:spcPts val="1238"/>
              </a:lnSpc>
              <a:buNone/>
            </a:pPr>
            <a:r>
              <a:rPr altLang="en-US" dirty="0" lang="en" sz="825">
                <a:solidFill>
                  <a:srgbClr val="6EE7B7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Qdrant Vector</a:t>
            </a:r>
            <a:endParaRPr dirty="0" lang="en" sz="825"/>
          </a:p>
          <a:p>
            <a:pPr algn="l" indent="0" marL="0">
              <a:lnSpc>
                <a:spcPts val="1238"/>
              </a:lnSpc>
              <a:buNone/>
            </a:pPr>
            <a:r>
              <a:rPr altLang="en-US" dirty="0" lang="en" sz="825">
                <a:solidFill>
                  <a:srgbClr val="6EE7B7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DB</a:t>
            </a:r>
            <a:endParaRPr dirty="0" lang="en" sz="825"/>
          </a:p>
        </p:txBody>
      </p:sp>
      <p:sp>
        <p:nvSpPr>
          <p:cNvPr id="31" name="TextBox 170"/>
          <p:cNvSpPr/>
          <p:nvPr/>
        </p:nvSpPr>
        <p:spPr>
          <a:xfrm>
            <a:off x="9478863" y="4087862"/>
            <a:ext cx="775543" cy="409575"/>
          </a:xfrm>
          <a:prstGeom prst="roundRect">
            <a:avLst>
              <a:gd fmla="val 9302" name="adj"/>
            </a:avLst>
          </a:prstGeom>
          <a:noFill/>
          <a:ln/>
        </p:spPr>
        <p:txBody>
          <a:bodyPr anchor="t" bIns="38100" lIns="95250" rIns="95250" rtlCol="0" tIns="38100" wrap="none"/>
          <a:lstStyle/>
          <a:p>
            <a:pPr algn="l" indent="0" marL="0">
              <a:lnSpc>
                <a:spcPts val="1238"/>
              </a:lnSpc>
              <a:buNone/>
            </a:pPr>
            <a:r>
              <a:rPr altLang="en-US" dirty="0" lang="en" sz="825">
                <a:solidFill>
                  <a:srgbClr val="6EE7B7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Hybrid</a:t>
            </a:r>
            <a:endParaRPr dirty="0" lang="en" sz="825"/>
          </a:p>
          <a:p>
            <a:pPr algn="l" indent="0" marL="0">
              <a:lnSpc>
                <a:spcPts val="1238"/>
              </a:lnSpc>
              <a:buNone/>
            </a:pPr>
            <a:r>
              <a:rPr altLang="en-US" dirty="0" lang="en" sz="825">
                <a:solidFill>
                  <a:srgbClr val="6EE7B7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Retrieval</a:t>
            </a:r>
            <a:endParaRPr dirty="0" lang="en" sz="825"/>
          </a:p>
        </p:txBody>
      </p:sp>
      <p:sp>
        <p:nvSpPr>
          <p:cNvPr id="32" name="TextBox 172"/>
          <p:cNvSpPr/>
          <p:nvPr/>
        </p:nvSpPr>
        <p:spPr>
          <a:xfrm>
            <a:off x="10330607" y="4166443"/>
            <a:ext cx="1089868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6EE7B7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Multimodal LLM</a:t>
            </a:r>
            <a:endParaRPr dirty="0" lang="en" sz="825"/>
          </a:p>
        </p:txBody>
      </p:sp>
      <p:sp>
        <p:nvSpPr>
          <p:cNvPr id="33" name="TextBox 184"/>
          <p:cNvSpPr/>
          <p:nvPr/>
        </p:nvSpPr>
        <p:spPr>
          <a:xfrm>
            <a:off x="4644926" y="5267325"/>
            <a:ext cx="342900" cy="342900"/>
          </a:xfrm>
          <a:prstGeom prst="roundRect">
            <a:avLst>
              <a:gd fmla="val 22222" name="adj"/>
            </a:avLst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6EE7B7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04</a:t>
            </a:r>
            <a:endParaRPr dirty="0" lang="en" sz="1050"/>
          </a:p>
        </p:txBody>
      </p:sp>
      <p:sp>
        <p:nvSpPr>
          <p:cNvPr id="34" name="TextBox 188"/>
          <p:cNvSpPr/>
          <p:nvPr/>
        </p:nvSpPr>
        <p:spPr>
          <a:xfrm>
            <a:off x="5140226" y="5181600"/>
            <a:ext cx="2998589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6" sz="10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Security &amp; Privacy Boundary</a:t>
            </a:r>
            <a:endParaRPr dirty="0" lang="en" sz="1050"/>
          </a:p>
        </p:txBody>
      </p:sp>
      <p:sp>
        <p:nvSpPr>
          <p:cNvPr id="35" name="TextBox 190"/>
          <p:cNvSpPr/>
          <p:nvPr/>
        </p:nvSpPr>
        <p:spPr>
          <a:xfrm>
            <a:off x="5140226" y="5391150"/>
            <a:ext cx="2998589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Zero-data-retention pipelines, transit encryption &amp; audit</a:t>
            </a:r>
            <a:endParaRPr dirty="0" lang="en" sz="900"/>
          </a:p>
          <a:p>
            <a:pPr algn="l" indent="0" marL="0">
              <a:lnSpc>
                <a:spcPts val="12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compliance.</a:t>
            </a:r>
            <a:endParaRPr dirty="0" lang="en" sz="900"/>
          </a:p>
        </p:txBody>
      </p:sp>
      <p:sp>
        <p:nvSpPr>
          <p:cNvPr id="36" name="TextBox 196"/>
          <p:cNvSpPr/>
          <p:nvPr/>
        </p:nvSpPr>
        <p:spPr>
          <a:xfrm>
            <a:off x="8690074" y="5312569"/>
            <a:ext cx="1404193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A7F3D0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Zero-Data-Retention</a:t>
            </a:r>
            <a:endParaRPr dirty="0" lang="en" sz="825"/>
          </a:p>
        </p:txBody>
      </p:sp>
      <p:sp>
        <p:nvSpPr>
          <p:cNvPr id="37" name="TextBox 198"/>
          <p:cNvSpPr/>
          <p:nvPr/>
        </p:nvSpPr>
        <p:spPr>
          <a:xfrm>
            <a:off x="10170468" y="5312569"/>
            <a:ext cx="649784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A7F3D0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TLS 1.3</a:t>
            </a:r>
            <a:endParaRPr dirty="0" lang="en" sz="825"/>
          </a:p>
        </p:txBody>
      </p:sp>
      <p:sp>
        <p:nvSpPr>
          <p:cNvPr id="38" name="TextBox 200"/>
          <p:cNvSpPr/>
          <p:nvPr/>
        </p:nvSpPr>
        <p:spPr>
          <a:xfrm>
            <a:off x="10896451" y="5312569"/>
            <a:ext cx="524024" cy="252412"/>
          </a:xfrm>
          <a:prstGeom prst="roundRect">
            <a:avLst>
              <a:gd fmla="val 15094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825">
                <a:solidFill>
                  <a:srgbClr val="A7F3D0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SOC 2</a:t>
            </a:r>
            <a:endParaRPr dirty="0" lang="en" sz="825"/>
          </a:p>
        </p:txBody>
      </p:sp>
      <p:sp>
        <p:nvSpPr>
          <p:cNvPr id="39" name="TextBox 214"/>
          <p:cNvSpPr/>
          <p:nvPr/>
        </p:nvSpPr>
        <p:spPr>
          <a:xfrm>
            <a:off x="742950" y="6257925"/>
            <a:ext cx="1509117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SYSTEM HEALTH: OPTIMAL</a:t>
            </a:r>
            <a:endParaRPr dirty="0" lang="en" sz="900"/>
          </a:p>
        </p:txBody>
      </p:sp>
      <p:sp>
        <p:nvSpPr>
          <p:cNvPr id="40" name="TextBox 216"/>
          <p:cNvSpPr/>
          <p:nvPr/>
        </p:nvSpPr>
        <p:spPr>
          <a:xfrm>
            <a:off x="2404467" y="6248400"/>
            <a:ext cx="6861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475569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|</a:t>
            </a:r>
            <a:endParaRPr dirty="0" lang="en" sz="900"/>
          </a:p>
        </p:txBody>
      </p:sp>
      <p:sp>
        <p:nvSpPr>
          <p:cNvPr id="41" name="TextBox 218"/>
          <p:cNvSpPr/>
          <p:nvPr/>
        </p:nvSpPr>
        <p:spPr>
          <a:xfrm>
            <a:off x="2625477" y="6248400"/>
            <a:ext cx="1509117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94A3B8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SECURE PIPELINE ACTIVE</a:t>
            </a:r>
            <a:endParaRPr dirty="0" lang="en" sz="900"/>
          </a:p>
        </p:txBody>
      </p:sp>
      <p:sp>
        <p:nvSpPr>
          <p:cNvPr id="42" name="TextBox 221"/>
          <p:cNvSpPr/>
          <p:nvPr/>
        </p:nvSpPr>
        <p:spPr>
          <a:xfrm>
            <a:off x="8907214" y="6248400"/>
            <a:ext cx="2675186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64748B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ENTERPRISE INFRASTRUCTURE SPECIFICATION</a:t>
            </a:r>
            <a:endParaRPr dirty="0" lang="en" sz="9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0"/>
          <p:cNvSpPr/>
          <p:nvPr/>
        </p:nvSpPr>
        <p:spPr>
          <a:xfrm>
            <a:off x="609600" y="609600"/>
            <a:ext cx="1097280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270" sz="900">
                <a:solidFill>
                  <a:srgbClr val="3B00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DIFFERENTIATED MARKET POSITIONING</a:t>
            </a:r>
            <a:endParaRPr dirty="0" lang="en" sz="900"/>
          </a:p>
        </p:txBody>
      </p:sp>
      <p:sp>
        <p:nvSpPr>
          <p:cNvPr id="4" name="TextBox 12"/>
          <p:cNvSpPr/>
          <p:nvPr/>
        </p:nvSpPr>
        <p:spPr>
          <a:xfrm>
            <a:off x="609600" y="838200"/>
            <a:ext cx="10972800" cy="571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90" sz="3600">
                <a:solidFill>
                  <a:srgbClr val="121212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Originality &amp; Competitive Edge</a:t>
            </a:r>
            <a:endParaRPr dirty="0" lang="en" sz="3600"/>
          </a:p>
        </p:txBody>
      </p:sp>
      <p:sp>
        <p:nvSpPr>
          <p:cNvPr id="5" name="TextBox 21"/>
          <p:cNvSpPr/>
          <p:nvPr/>
        </p:nvSpPr>
        <p:spPr>
          <a:xfrm>
            <a:off x="876300" y="2892028"/>
            <a:ext cx="4038600" cy="835819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2194"/>
              </a:lnSpc>
              <a:buNone/>
            </a:pPr>
            <a:r>
              <a:rPr altLang="en-US" dirty="0" lang="en" sz="1350">
                <a:solidFill>
                  <a:srgbClr val="121212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BrandSphere AI bridges the gap between</a:t>
            </a:r>
            <a:endParaRPr dirty="0" lang="en" sz="1350"/>
          </a:p>
          <a:p>
            <a:pPr algn="l" indent="0" marL="0">
              <a:lnSpc>
                <a:spcPts val="2194"/>
              </a:lnSpc>
              <a:buNone/>
            </a:pPr>
            <a:r>
              <a:rPr altLang="en-US" dirty="0" lang="en" sz="1350">
                <a:solidFill>
                  <a:srgbClr val="121212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superficial grammar tools and unreliable generic</a:t>
            </a:r>
            <a:endParaRPr dirty="0" lang="en" sz="1350"/>
          </a:p>
          <a:p>
            <a:pPr algn="l" indent="0" marL="0">
              <a:lnSpc>
                <a:spcPts val="2194"/>
              </a:lnSpc>
              <a:buNone/>
            </a:pPr>
            <a:r>
              <a:rPr altLang="en-US" dirty="0" lang="en" sz="1350">
                <a:solidFill>
                  <a:srgbClr val="121212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LLMs with grounded enterprise intelligence.</a:t>
            </a:r>
            <a:endParaRPr dirty="0" lang="en" sz="1350"/>
          </a:p>
        </p:txBody>
      </p:sp>
      <p:sp>
        <p:nvSpPr>
          <p:cNvPr id="6" name="TextBox 26"/>
          <p:cNvSpPr/>
          <p:nvPr/>
        </p:nvSpPr>
        <p:spPr>
          <a:xfrm>
            <a:off x="838200" y="3994547"/>
            <a:ext cx="4076700" cy="3810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500"/>
              </a:lnSpc>
              <a:buNone/>
            </a:pPr>
            <a:r>
              <a:rPr altLang="en-US" dirty="0" lang="en" sz="105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Side-by-side comparison matrix and Guideline Clarity Index</a:t>
            </a:r>
            <a:endParaRPr dirty="0" lang="en" sz="1050"/>
          </a:p>
          <a:p>
            <a:pPr algn="l" indent="0" marL="0">
              <a:lnSpc>
                <a:spcPts val="1500"/>
              </a:lnSpc>
              <a:buNone/>
            </a:pPr>
            <a:r>
              <a:rPr altLang="en-US" dirty="0" lang="en" sz="105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overview.</a:t>
            </a:r>
            <a:endParaRPr dirty="0" lang="en" sz="1050"/>
          </a:p>
        </p:txBody>
      </p:sp>
      <p:sp>
        <p:nvSpPr>
          <p:cNvPr id="7" name="TextBox 36"/>
          <p:cNvSpPr/>
          <p:nvPr/>
        </p:nvSpPr>
        <p:spPr>
          <a:xfrm>
            <a:off x="5562600" y="2305050"/>
            <a:ext cx="264795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GRAMMAR CHECKERS</a:t>
            </a:r>
            <a:endParaRPr dirty="0" lang="en" sz="900"/>
          </a:p>
        </p:txBody>
      </p:sp>
      <p:sp>
        <p:nvSpPr>
          <p:cNvPr id="8" name="TextBox 38"/>
          <p:cNvSpPr/>
          <p:nvPr/>
        </p:nvSpPr>
        <p:spPr>
          <a:xfrm>
            <a:off x="5562600" y="2533650"/>
            <a:ext cx="264795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121212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Grammarly &amp; Similar</a:t>
            </a:r>
            <a:endParaRPr dirty="0" lang="en" sz="1050"/>
          </a:p>
        </p:txBody>
      </p:sp>
      <p:sp>
        <p:nvSpPr>
          <p:cNvPr id="9" name="TextBox 40"/>
          <p:cNvSpPr/>
          <p:nvPr/>
        </p:nvSpPr>
        <p:spPr>
          <a:xfrm>
            <a:off x="5562600" y="2800350"/>
            <a:ext cx="2647950" cy="3429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350"/>
              </a:lnSpc>
              <a:buNone/>
            </a:pPr>
            <a:r>
              <a:rPr altLang="en-US" dirty="0" lang="en" sz="90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Superficial grammar and stylistic tweaks without</a:t>
            </a:r>
            <a:endParaRPr dirty="0" lang="en" sz="900"/>
          </a:p>
          <a:p>
            <a:pPr algn="l" indent="0" marL="0">
              <a:lnSpc>
                <a:spcPts val="1350"/>
              </a:lnSpc>
              <a:buNone/>
            </a:pPr>
            <a:r>
              <a:rPr altLang="en-US" dirty="0" lang="en" sz="90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 context or brand grounding.</a:t>
            </a:r>
            <a:endParaRPr dirty="0" lang="en" sz="900"/>
          </a:p>
        </p:txBody>
      </p:sp>
      <p:sp>
        <p:nvSpPr>
          <p:cNvPr id="10" name="TextBox 45"/>
          <p:cNvSpPr/>
          <p:nvPr/>
        </p:nvSpPr>
        <p:spPr>
          <a:xfrm>
            <a:off x="8743950" y="2305050"/>
            <a:ext cx="264795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STANDARD LLMS</a:t>
            </a:r>
            <a:endParaRPr dirty="0" lang="en" sz="900"/>
          </a:p>
        </p:txBody>
      </p:sp>
      <p:sp>
        <p:nvSpPr>
          <p:cNvPr id="11" name="TextBox 47"/>
          <p:cNvSpPr/>
          <p:nvPr/>
        </p:nvSpPr>
        <p:spPr>
          <a:xfrm>
            <a:off x="8743950" y="2533650"/>
            <a:ext cx="264795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050">
                <a:solidFill>
                  <a:srgbClr val="121212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Generic Prompts</a:t>
            </a:r>
            <a:endParaRPr dirty="0" lang="en" sz="1050"/>
          </a:p>
        </p:txBody>
      </p:sp>
      <p:sp>
        <p:nvSpPr>
          <p:cNvPr id="12" name="TextBox 49"/>
          <p:cNvSpPr/>
          <p:nvPr/>
        </p:nvSpPr>
        <p:spPr>
          <a:xfrm>
            <a:off x="8743950" y="2800350"/>
            <a:ext cx="2647950" cy="3429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350"/>
              </a:lnSpc>
              <a:buNone/>
            </a:pPr>
            <a:r>
              <a:rPr altLang="en-US" dirty="0" lang="en" sz="90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Unreliable outputs prone to hallucinations with</a:t>
            </a:r>
            <a:endParaRPr dirty="0" lang="en" sz="900"/>
          </a:p>
          <a:p>
            <a:pPr algn="l" indent="0" marL="0">
              <a:lnSpc>
                <a:spcPts val="1350"/>
              </a:lnSpc>
              <a:buNone/>
            </a:pPr>
            <a:r>
              <a:rPr altLang="en-US" dirty="0" lang="en" sz="90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zero verifiable guideline citations.</a:t>
            </a:r>
            <a:endParaRPr dirty="0" lang="en" sz="900"/>
          </a:p>
        </p:txBody>
      </p:sp>
      <p:sp>
        <p:nvSpPr>
          <p:cNvPr id="13" name="TextBox 59"/>
          <p:cNvSpPr/>
          <p:nvPr/>
        </p:nvSpPr>
        <p:spPr>
          <a:xfrm>
            <a:off x="5600700" y="3829050"/>
            <a:ext cx="1988046" cy="228600"/>
          </a:xfrm>
          <a:prstGeom prst="roundRect">
            <a:avLst>
              <a:gd fmla="val 50000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180" sz="900">
                <a:solidFill>
                  <a:srgbClr val="3B00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 STANDARD</a:t>
            </a:r>
            <a:endParaRPr dirty="0" lang="en" sz="900"/>
          </a:p>
        </p:txBody>
      </p:sp>
      <p:sp>
        <p:nvSpPr>
          <p:cNvPr id="14" name="TextBox 61"/>
          <p:cNvSpPr/>
          <p:nvPr/>
        </p:nvSpPr>
        <p:spPr>
          <a:xfrm>
            <a:off x="10510391" y="3867150"/>
            <a:ext cx="84340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BrandSphere AI</a:t>
            </a:r>
            <a:endParaRPr dirty="0" lang="en" sz="900"/>
          </a:p>
        </p:txBody>
      </p:sp>
      <p:sp>
        <p:nvSpPr>
          <p:cNvPr id="15" name="TextBox 64"/>
          <p:cNvSpPr/>
          <p:nvPr/>
        </p:nvSpPr>
        <p:spPr>
          <a:xfrm>
            <a:off x="5600700" y="4171950"/>
            <a:ext cx="5753100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2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Grounded RAG Accuracy &amp; Multimodal Verification</a:t>
            </a:r>
            <a:endParaRPr dirty="0" lang="en" sz="1200"/>
          </a:p>
        </p:txBody>
      </p:sp>
      <p:sp>
        <p:nvSpPr>
          <p:cNvPr id="16" name="TextBox 66"/>
          <p:cNvSpPr/>
          <p:nvPr/>
        </p:nvSpPr>
        <p:spPr>
          <a:xfrm>
            <a:off x="5600700" y="4514850"/>
            <a:ext cx="5753100" cy="371475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D1D5D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Delivers explainable guideline citations and continuous telemetry via the Guideline Clarity Index, ensuring</a:t>
            </a:r>
            <a:endParaRPr dirty="0" lang="en" sz="900"/>
          </a:p>
          <a:p>
            <a:pPr algn="l" indent="0" marL="0">
              <a:lnSpc>
                <a:spcPts val="1463"/>
              </a:lnSpc>
              <a:buNone/>
            </a:pPr>
            <a:r>
              <a:rPr altLang="en-US" dirty="0" lang="en" sz="900">
                <a:solidFill>
                  <a:srgbClr val="D1D5D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absolute brand compliance and originality.</a:t>
            </a:r>
            <a:endParaRPr dirty="0" lang="en" sz="900"/>
          </a:p>
        </p:txBody>
      </p:sp>
      <p:sp>
        <p:nvSpPr>
          <p:cNvPr id="17" name="TextBox 73"/>
          <p:cNvSpPr/>
          <p:nvPr/>
        </p:nvSpPr>
        <p:spPr>
          <a:xfrm>
            <a:off x="609600" y="6096000"/>
            <a:ext cx="1799779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BrandSphere AI Intelligence Suite</a:t>
            </a:r>
            <a:endParaRPr dirty="0" lang="en" sz="900"/>
          </a:p>
        </p:txBody>
      </p:sp>
      <p:sp>
        <p:nvSpPr>
          <p:cNvPr id="18" name="TextBox 75"/>
          <p:cNvSpPr/>
          <p:nvPr/>
        </p:nvSpPr>
        <p:spPr>
          <a:xfrm>
            <a:off x="9837986" y="6096000"/>
            <a:ext cx="1744414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66666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Guideline Clarity Index Overview</a:t>
            </a:r>
            <a:endParaRPr dirty="0" lang="en" sz="9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2"/>
          <p:cNvSpPr/>
          <p:nvPr/>
        </p:nvSpPr>
        <p:spPr>
          <a:xfrm>
            <a:off x="609600" y="609600"/>
            <a:ext cx="1654076" cy="247650"/>
          </a:xfrm>
          <a:prstGeom prst="roundRect">
            <a:avLst>
              <a:gd fmla="val 15385" name="adj"/>
            </a:avLst>
          </a:prstGeom>
          <a:noFill/>
          <a:ln/>
        </p:spPr>
        <p:txBody>
          <a:bodyPr anchor="t" bIns="38100" lIns="95250" rIns="9525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06B6D4"/>
                </a:solidFill>
                <a:latin charset="0" pitchFamily="34" typeface="DejaVu Sans Mono"/>
                <a:ea charset="-122" pitchFamily="34" typeface="DejaVu Sans Mono"/>
                <a:cs charset="-120" pitchFamily="34" typeface="DejaVu Sans Mono"/>
              </a:rPr>
              <a:t>TEAM CIPHER CODERS</a:t>
            </a:r>
            <a:endParaRPr dirty="0" lang="en" sz="900"/>
          </a:p>
        </p:txBody>
      </p:sp>
      <p:sp>
        <p:nvSpPr>
          <p:cNvPr id="4" name="TextBox 24"/>
          <p:cNvSpPr/>
          <p:nvPr/>
        </p:nvSpPr>
        <p:spPr>
          <a:xfrm>
            <a:off x="2377976" y="657225"/>
            <a:ext cx="119256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45" sz="900">
                <a:solidFill>
                  <a:srgbClr val="A1A1AA"/>
                </a:solidFill>
                <a:latin charset="0" pitchFamily="34" typeface="DejaVu Sans Mono"/>
                <a:ea charset="-122" pitchFamily="34" typeface="DejaVu Sans Mono"/>
                <a:cs charset="-120" pitchFamily="34" typeface="DejaVu Sans Mono"/>
              </a:rPr>
              <a:t>OWNERSHIP MATRIX</a:t>
            </a:r>
            <a:endParaRPr dirty="0" lang="en" sz="900"/>
          </a:p>
        </p:txBody>
      </p:sp>
      <p:sp>
        <p:nvSpPr>
          <p:cNvPr id="5" name="TextBox 27"/>
          <p:cNvSpPr/>
          <p:nvPr/>
        </p:nvSpPr>
        <p:spPr>
          <a:xfrm>
            <a:off x="609600" y="933450"/>
            <a:ext cx="10972800" cy="4286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67" sz="270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Team Roles &amp; Ownership Matrix</a:t>
            </a:r>
            <a:endParaRPr dirty="0" lang="en" sz="2700"/>
          </a:p>
        </p:txBody>
      </p:sp>
      <p:sp>
        <p:nvSpPr>
          <p:cNvPr id="6" name="TextBox 29"/>
          <p:cNvSpPr/>
          <p:nvPr/>
        </p:nvSpPr>
        <p:spPr>
          <a:xfrm>
            <a:off x="609600" y="1390650"/>
            <a:ext cx="7315200" cy="216694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A1A1A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Clear division of domain ownership combining deep AI systems expertise with full-stack execution capability.</a:t>
            </a:r>
            <a:endParaRPr dirty="0" lang="en" sz="1050"/>
          </a:p>
        </p:txBody>
      </p:sp>
      <p:sp>
        <p:nvSpPr>
          <p:cNvPr id="7" name="TextBox 46"/>
          <p:cNvSpPr/>
          <p:nvPr/>
        </p:nvSpPr>
        <p:spPr>
          <a:xfrm>
            <a:off x="923925" y="2789634"/>
            <a:ext cx="1111300" cy="228600"/>
          </a:xfrm>
          <a:prstGeom prst="roundRect">
            <a:avLst>
              <a:gd fmla="val 50000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A855F7"/>
                </a:solidFill>
                <a:latin charset="0" pitchFamily="34" typeface="DejaVu Sans Mono"/>
                <a:ea charset="-122" pitchFamily="34" typeface="DejaVu Sans Mono"/>
                <a:cs charset="-120" pitchFamily="34" typeface="DejaVu Sans Mono"/>
              </a:rPr>
              <a:t>TEAM LEADER</a:t>
            </a:r>
            <a:endParaRPr dirty="0" lang="en" sz="900"/>
          </a:p>
        </p:txBody>
      </p:sp>
      <p:sp>
        <p:nvSpPr>
          <p:cNvPr id="8" name="TextBox 51"/>
          <p:cNvSpPr/>
          <p:nvPr/>
        </p:nvSpPr>
        <p:spPr>
          <a:xfrm>
            <a:off x="923925" y="3189684"/>
            <a:ext cx="4705350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45" sz="180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Ishaan Ray</a:t>
            </a:r>
            <a:endParaRPr dirty="0" lang="en" sz="1800"/>
          </a:p>
        </p:txBody>
      </p:sp>
      <p:sp>
        <p:nvSpPr>
          <p:cNvPr id="9" name="TextBox 61"/>
          <p:cNvSpPr/>
          <p:nvPr/>
        </p:nvSpPr>
        <p:spPr>
          <a:xfrm>
            <a:off x="1109663" y="3723084"/>
            <a:ext cx="1416844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AI System Architecture</a:t>
            </a:r>
            <a:endParaRPr dirty="0" lang="en" sz="1050"/>
          </a:p>
        </p:txBody>
      </p:sp>
      <p:sp>
        <p:nvSpPr>
          <p:cNvPr id="10" name="TextBox 68"/>
          <p:cNvSpPr/>
          <p:nvPr/>
        </p:nvSpPr>
        <p:spPr>
          <a:xfrm>
            <a:off x="1109663" y="4008834"/>
            <a:ext cx="1265932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RAG Pipeline Design</a:t>
            </a:r>
            <a:endParaRPr dirty="0" lang="en" sz="1050"/>
          </a:p>
        </p:txBody>
      </p:sp>
      <p:sp>
        <p:nvSpPr>
          <p:cNvPr id="11" name="TextBox 75"/>
          <p:cNvSpPr/>
          <p:nvPr/>
        </p:nvSpPr>
        <p:spPr>
          <a:xfrm>
            <a:off x="1109663" y="4294584"/>
            <a:ext cx="2322016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Evaluation &amp; Hallucination Mitigation</a:t>
            </a:r>
            <a:endParaRPr dirty="0" lang="en" sz="1050"/>
          </a:p>
        </p:txBody>
      </p:sp>
      <p:sp>
        <p:nvSpPr>
          <p:cNvPr id="12" name="TextBox 82"/>
          <p:cNvSpPr/>
          <p:nvPr/>
        </p:nvSpPr>
        <p:spPr>
          <a:xfrm>
            <a:off x="1109663" y="4580334"/>
            <a:ext cx="1262955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Prompt Engineering</a:t>
            </a:r>
            <a:endParaRPr dirty="0" lang="en" sz="1050"/>
          </a:p>
        </p:txBody>
      </p:sp>
      <p:sp>
        <p:nvSpPr>
          <p:cNvPr id="13" name="TextBox 97"/>
          <p:cNvSpPr/>
          <p:nvPr/>
        </p:nvSpPr>
        <p:spPr>
          <a:xfrm>
            <a:off x="6562725" y="2789634"/>
            <a:ext cx="1512540" cy="228600"/>
          </a:xfrm>
          <a:prstGeom prst="roundRect">
            <a:avLst>
              <a:gd fmla="val 50000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06B6D4"/>
                </a:solidFill>
                <a:latin charset="0" pitchFamily="34" typeface="DejaVu Sans Mono"/>
                <a:ea charset="-122" pitchFamily="34" typeface="DejaVu Sans Mono"/>
                <a:cs charset="-120" pitchFamily="34" typeface="DejaVu Sans Mono"/>
              </a:rPr>
              <a:t>CORE ENGINEERING</a:t>
            </a:r>
            <a:endParaRPr dirty="0" lang="en" sz="900"/>
          </a:p>
        </p:txBody>
      </p:sp>
      <p:sp>
        <p:nvSpPr>
          <p:cNvPr id="14" name="TextBox 102"/>
          <p:cNvSpPr/>
          <p:nvPr/>
        </p:nvSpPr>
        <p:spPr>
          <a:xfrm>
            <a:off x="6562725" y="3189684"/>
            <a:ext cx="4705350" cy="3048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45" sz="180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Rishi Prajapati</a:t>
            </a:r>
            <a:endParaRPr dirty="0" lang="en" sz="1800"/>
          </a:p>
        </p:txBody>
      </p:sp>
      <p:sp>
        <p:nvSpPr>
          <p:cNvPr id="15" name="TextBox 112"/>
          <p:cNvSpPr/>
          <p:nvPr/>
        </p:nvSpPr>
        <p:spPr>
          <a:xfrm>
            <a:off x="6748463" y="3723084"/>
            <a:ext cx="1706612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Full-Stack Web Architecture</a:t>
            </a:r>
            <a:endParaRPr dirty="0" lang="en" sz="1050"/>
          </a:p>
        </p:txBody>
      </p:sp>
      <p:sp>
        <p:nvSpPr>
          <p:cNvPr id="16" name="TextBox 119"/>
          <p:cNvSpPr/>
          <p:nvPr/>
        </p:nvSpPr>
        <p:spPr>
          <a:xfrm>
            <a:off x="6748463" y="4008834"/>
            <a:ext cx="221739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User Experience &amp; Interface Design</a:t>
            </a:r>
            <a:endParaRPr dirty="0" lang="en" sz="1050"/>
          </a:p>
        </p:txBody>
      </p:sp>
      <p:sp>
        <p:nvSpPr>
          <p:cNvPr id="17" name="TextBox 126"/>
          <p:cNvSpPr/>
          <p:nvPr/>
        </p:nvSpPr>
        <p:spPr>
          <a:xfrm>
            <a:off x="6748463" y="4294584"/>
            <a:ext cx="175900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Collaborative Review Engine</a:t>
            </a:r>
            <a:endParaRPr dirty="0" lang="en" sz="1050"/>
          </a:p>
        </p:txBody>
      </p:sp>
      <p:sp>
        <p:nvSpPr>
          <p:cNvPr id="18" name="TextBox 133"/>
          <p:cNvSpPr/>
          <p:nvPr/>
        </p:nvSpPr>
        <p:spPr>
          <a:xfrm>
            <a:off x="6748462" y="4580334"/>
            <a:ext cx="2413695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FAFAF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Governance Dashboard &amp; Integrations</a:t>
            </a:r>
            <a:endParaRPr dirty="0" lang="en" sz="1050"/>
          </a:p>
        </p:txBody>
      </p:sp>
      <p:sp>
        <p:nvSpPr>
          <p:cNvPr id="19" name="TextBox 143"/>
          <p:cNvSpPr/>
          <p:nvPr/>
        </p:nvSpPr>
        <p:spPr>
          <a:xfrm>
            <a:off x="609600" y="6096000"/>
            <a:ext cx="2270968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A1A1AA"/>
                </a:solidFill>
                <a:latin charset="0" pitchFamily="34" typeface="DejaVu Sans Mono"/>
                <a:ea charset="-122" pitchFamily="34" typeface="DejaVu Sans Mono"/>
                <a:cs charset="-120" pitchFamily="34" typeface="DejaVu Sans Mono"/>
              </a:rPr>
              <a:t>CIPHER CODERS CORE DOMAIN MAPPING</a:t>
            </a:r>
            <a:endParaRPr dirty="0" lang="en" sz="900"/>
          </a:p>
        </p:txBody>
      </p:sp>
      <p:sp>
        <p:nvSpPr>
          <p:cNvPr id="20" name="TextBox 145"/>
          <p:cNvSpPr/>
          <p:nvPr/>
        </p:nvSpPr>
        <p:spPr>
          <a:xfrm>
            <a:off x="9449098" y="6096000"/>
            <a:ext cx="2133302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A1A1AA"/>
                </a:solidFill>
                <a:latin charset="0" pitchFamily="34" typeface="DejaVu Sans Mono"/>
                <a:ea charset="-122" pitchFamily="34" typeface="DejaVu Sans Mono"/>
                <a:cs charset="-120" pitchFamily="34" typeface="DejaVu Sans Mono"/>
              </a:rPr>
              <a:t>SECURE ARCHITECTURE &amp; EXECUTION</a:t>
            </a:r>
            <a:endParaRPr dirty="0" lang="en" sz="9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1"/>
          <p:cNvSpPr/>
          <p:nvPr/>
        </p:nvSpPr>
        <p:spPr>
          <a:xfrm>
            <a:off x="819150" y="609600"/>
            <a:ext cx="2451795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90" sz="900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MILESTONE ROADMAP &amp; FEASIBILITY</a:t>
            </a:r>
            <a:endParaRPr dirty="0" lang="en" sz="900"/>
          </a:p>
        </p:txBody>
      </p:sp>
      <p:sp>
        <p:nvSpPr>
          <p:cNvPr id="4" name="TextBox 16"/>
          <p:cNvSpPr/>
          <p:nvPr/>
        </p:nvSpPr>
        <p:spPr>
          <a:xfrm>
            <a:off x="609600" y="838200"/>
            <a:ext cx="3626941" cy="7620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3000"/>
              </a:lnSpc>
              <a:buNone/>
            </a:pPr>
            <a:r>
              <a:rPr altLang="en-US" b="1" dirty="0" kern="0" lang="en" spc="-67" sz="2700">
                <a:solidFill>
                  <a:srgbClr val="1E293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3-Round Execution</a:t>
            </a:r>
            <a:endParaRPr dirty="0" lang="en" sz="2700"/>
          </a:p>
          <a:p>
            <a:pPr algn="l" indent="0" marL="0">
              <a:lnSpc>
                <a:spcPts val="3000"/>
              </a:lnSpc>
              <a:buNone/>
            </a:pPr>
            <a:r>
              <a:rPr altLang="en-US" b="1" dirty="0" kern="0" lang="en" spc="-67" sz="2700">
                <a:solidFill>
                  <a:srgbClr val="1E293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Roadmap &amp; Feasibility</a:t>
            </a:r>
            <a:endParaRPr dirty="0" lang="en" sz="2700"/>
          </a:p>
        </p:txBody>
      </p:sp>
      <p:sp>
        <p:nvSpPr>
          <p:cNvPr id="5" name="TextBox 18"/>
          <p:cNvSpPr/>
          <p:nvPr/>
        </p:nvSpPr>
        <p:spPr>
          <a:xfrm>
            <a:off x="7775377" y="1009650"/>
            <a:ext cx="3807023" cy="38100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r" indent="0" marL="0">
              <a:lnSpc>
                <a:spcPts val="1500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 phased, risk-mitigated execution roadmap ensuring robust</a:t>
            </a:r>
            <a:endParaRPr dirty="0" lang="en" sz="1050"/>
          </a:p>
          <a:p>
            <a:pPr algn="r" indent="0" marL="0">
              <a:lnSpc>
                <a:spcPts val="1500"/>
              </a:lnSpc>
              <a:buNone/>
            </a:pPr>
            <a:r>
              <a:rPr altLang="en-US" dirty="0" lang="en" sz="1050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delivery across all competition stages.</a:t>
            </a:r>
            <a:endParaRPr dirty="0" lang="en" sz="1050"/>
          </a:p>
        </p:txBody>
      </p:sp>
      <p:sp>
        <p:nvSpPr>
          <p:cNvPr id="6" name="TextBox 38"/>
          <p:cNvSpPr/>
          <p:nvPr/>
        </p:nvSpPr>
        <p:spPr>
          <a:xfrm>
            <a:off x="923925" y="2200275"/>
            <a:ext cx="794147" cy="228600"/>
          </a:xfrm>
          <a:prstGeom prst="roundRect">
            <a:avLst>
              <a:gd fmla="val 50000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2563E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ROUND 1</a:t>
            </a:r>
            <a:endParaRPr dirty="0" lang="en" sz="900"/>
          </a:p>
        </p:txBody>
      </p:sp>
      <p:sp>
        <p:nvSpPr>
          <p:cNvPr id="7" name="TextBox 40"/>
          <p:cNvSpPr/>
          <p:nvPr/>
        </p:nvSpPr>
        <p:spPr>
          <a:xfrm>
            <a:off x="3473500" y="2143125"/>
            <a:ext cx="326975" cy="3571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2250">
                <a:solidFill>
                  <a:srgbClr val="CBD5E1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01</a:t>
            </a:r>
            <a:endParaRPr dirty="0" lang="en" sz="2250"/>
          </a:p>
        </p:txBody>
      </p:sp>
      <p:sp>
        <p:nvSpPr>
          <p:cNvPr id="8" name="TextBox 43"/>
          <p:cNvSpPr/>
          <p:nvPr/>
        </p:nvSpPr>
        <p:spPr>
          <a:xfrm>
            <a:off x="923925" y="2714625"/>
            <a:ext cx="28765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293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The Plan</a:t>
            </a:r>
            <a:endParaRPr dirty="0" lang="en" sz="1500"/>
          </a:p>
        </p:txBody>
      </p:sp>
      <p:sp>
        <p:nvSpPr>
          <p:cNvPr id="9" name="TextBox 45"/>
          <p:cNvSpPr/>
          <p:nvPr/>
        </p:nvSpPr>
        <p:spPr>
          <a:xfrm>
            <a:off x="923925" y="3095625"/>
            <a:ext cx="2876550" cy="696516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Complete system design and rigorous RAG</a:t>
            </a:r>
            <a:endParaRPr dirty="0" lang="en" sz="1125"/>
          </a:p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retrieval schema establishment to lay the</a:t>
            </a:r>
            <a:endParaRPr dirty="0" lang="en" sz="1125"/>
          </a:p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architectural foundation.</a:t>
            </a:r>
            <a:endParaRPr dirty="0" lang="en" sz="1125"/>
          </a:p>
        </p:txBody>
      </p:sp>
      <p:sp>
        <p:nvSpPr>
          <p:cNvPr id="10" name="TextBox 51"/>
          <p:cNvSpPr/>
          <p:nvPr/>
        </p:nvSpPr>
        <p:spPr>
          <a:xfrm>
            <a:off x="1114425" y="5229225"/>
            <a:ext cx="1398389" cy="1619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1E293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Architecture &amp; Blueprint</a:t>
            </a:r>
            <a:endParaRPr dirty="0" lang="en" sz="900"/>
          </a:p>
        </p:txBody>
      </p:sp>
      <p:sp>
        <p:nvSpPr>
          <p:cNvPr id="11" name="TextBox 64"/>
          <p:cNvSpPr/>
          <p:nvPr/>
        </p:nvSpPr>
        <p:spPr>
          <a:xfrm>
            <a:off x="4657725" y="2200275"/>
            <a:ext cx="794147" cy="228600"/>
          </a:xfrm>
          <a:prstGeom prst="roundRect">
            <a:avLst>
              <a:gd fmla="val 50000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2563E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ROUND 2</a:t>
            </a:r>
            <a:endParaRPr dirty="0" lang="en" sz="900"/>
          </a:p>
        </p:txBody>
      </p:sp>
      <p:sp>
        <p:nvSpPr>
          <p:cNvPr id="12" name="TextBox 66"/>
          <p:cNvSpPr/>
          <p:nvPr/>
        </p:nvSpPr>
        <p:spPr>
          <a:xfrm>
            <a:off x="7207300" y="2143125"/>
            <a:ext cx="326975" cy="3571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2250">
                <a:solidFill>
                  <a:srgbClr val="CBD5E1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02</a:t>
            </a:r>
            <a:endParaRPr dirty="0" lang="en" sz="2250"/>
          </a:p>
        </p:txBody>
      </p:sp>
      <p:sp>
        <p:nvSpPr>
          <p:cNvPr id="13" name="TextBox 69"/>
          <p:cNvSpPr/>
          <p:nvPr/>
        </p:nvSpPr>
        <p:spPr>
          <a:xfrm>
            <a:off x="4657725" y="2714625"/>
            <a:ext cx="28765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293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The Build</a:t>
            </a:r>
            <a:endParaRPr dirty="0" lang="en" sz="1500"/>
          </a:p>
        </p:txBody>
      </p:sp>
      <p:sp>
        <p:nvSpPr>
          <p:cNvPr id="14" name="TextBox 71"/>
          <p:cNvSpPr/>
          <p:nvPr/>
        </p:nvSpPr>
        <p:spPr>
          <a:xfrm>
            <a:off x="4657725" y="3095625"/>
            <a:ext cx="2876550" cy="928688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Functional end-to-end prototype</a:t>
            </a:r>
            <a:endParaRPr dirty="0" lang="en" sz="1125"/>
          </a:p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development featuring automated text &amp;</a:t>
            </a:r>
            <a:endParaRPr dirty="0" lang="en" sz="1125"/>
          </a:p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image scanning alongside comprehensive</a:t>
            </a:r>
            <a:endParaRPr dirty="0" lang="en" sz="1125"/>
          </a:p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UI reviews.</a:t>
            </a:r>
            <a:endParaRPr dirty="0" lang="en" sz="1125"/>
          </a:p>
        </p:txBody>
      </p:sp>
      <p:sp>
        <p:nvSpPr>
          <p:cNvPr id="15" name="TextBox 77"/>
          <p:cNvSpPr/>
          <p:nvPr/>
        </p:nvSpPr>
        <p:spPr>
          <a:xfrm>
            <a:off x="4876800" y="5229225"/>
            <a:ext cx="1294805" cy="1619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1E293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Prototype &amp; Validation</a:t>
            </a:r>
            <a:endParaRPr dirty="0" lang="en" sz="900"/>
          </a:p>
        </p:txBody>
      </p:sp>
      <p:sp>
        <p:nvSpPr>
          <p:cNvPr id="16" name="TextBox 90"/>
          <p:cNvSpPr/>
          <p:nvPr/>
        </p:nvSpPr>
        <p:spPr>
          <a:xfrm>
            <a:off x="8391525" y="2200275"/>
            <a:ext cx="794147" cy="228600"/>
          </a:xfrm>
          <a:prstGeom prst="roundRect">
            <a:avLst>
              <a:gd fmla="val 50000" name="adj"/>
            </a:avLst>
          </a:prstGeom>
          <a:noFill/>
          <a:ln/>
        </p:spPr>
        <p:txBody>
          <a:bodyPr anchor="t" bIns="38100" lIns="114300" rIns="114300" rtlCol="0" tIns="3810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45" sz="900">
                <a:solidFill>
                  <a:srgbClr val="2563E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ROUND 3</a:t>
            </a:r>
            <a:endParaRPr dirty="0" lang="en" sz="900"/>
          </a:p>
        </p:txBody>
      </p:sp>
      <p:sp>
        <p:nvSpPr>
          <p:cNvPr id="17" name="TextBox 92"/>
          <p:cNvSpPr/>
          <p:nvPr/>
        </p:nvSpPr>
        <p:spPr>
          <a:xfrm>
            <a:off x="10941100" y="2143125"/>
            <a:ext cx="326975" cy="3571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2250">
                <a:solidFill>
                  <a:srgbClr val="CBD5E1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03</a:t>
            </a:r>
            <a:endParaRPr dirty="0" lang="en" sz="2250"/>
          </a:p>
        </p:txBody>
      </p:sp>
      <p:sp>
        <p:nvSpPr>
          <p:cNvPr id="18" name="TextBox 95"/>
          <p:cNvSpPr/>
          <p:nvPr/>
        </p:nvSpPr>
        <p:spPr>
          <a:xfrm>
            <a:off x="8391525" y="2714625"/>
            <a:ext cx="2876550" cy="2667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lang="en" sz="1500">
                <a:solidFill>
                  <a:srgbClr val="1E293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The Finish</a:t>
            </a:r>
            <a:endParaRPr dirty="0" lang="en" sz="1500"/>
          </a:p>
        </p:txBody>
      </p:sp>
      <p:sp>
        <p:nvSpPr>
          <p:cNvPr id="19" name="TextBox 97"/>
          <p:cNvSpPr/>
          <p:nvPr/>
        </p:nvSpPr>
        <p:spPr>
          <a:xfrm>
            <a:off x="8391525" y="3095625"/>
            <a:ext cx="2876550" cy="696516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 hardening, batch document</a:t>
            </a:r>
            <a:endParaRPr dirty="0" lang="en" sz="1125"/>
          </a:p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upload capabilities, analytics dashboard</a:t>
            </a:r>
            <a:endParaRPr dirty="0" lang="en" sz="1125"/>
          </a:p>
          <a:p>
            <a:pPr algn="l" indent="0" marL="0">
              <a:lnSpc>
                <a:spcPts val="1828"/>
              </a:lnSpc>
              <a:buNone/>
            </a:pPr>
            <a:r>
              <a:rPr altLang="en-US" dirty="0" lang="en" sz="1125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integration, and rigorous stress testing.</a:t>
            </a:r>
            <a:endParaRPr dirty="0" lang="en" sz="1125"/>
          </a:p>
        </p:txBody>
      </p:sp>
      <p:sp>
        <p:nvSpPr>
          <p:cNvPr id="20" name="TextBox 103"/>
          <p:cNvSpPr/>
          <p:nvPr/>
        </p:nvSpPr>
        <p:spPr>
          <a:xfrm>
            <a:off x="8582025" y="5229225"/>
            <a:ext cx="1166217" cy="1619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altLang="en-US" b="1" dirty="0" lang="en" sz="900">
                <a:solidFill>
                  <a:srgbClr val="1E293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Hardening &amp; Launch</a:t>
            </a:r>
            <a:endParaRPr dirty="0" lang="en" sz="900"/>
          </a:p>
        </p:txBody>
      </p:sp>
      <p:sp>
        <p:nvSpPr>
          <p:cNvPr id="21" name="TextBox 116"/>
          <p:cNvSpPr/>
          <p:nvPr/>
        </p:nvSpPr>
        <p:spPr>
          <a:xfrm>
            <a:off x="742950" y="6096000"/>
            <a:ext cx="2399258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Gantt-style milestone timeline &amp; deliverables</a:t>
            </a:r>
            <a:endParaRPr dirty="0" lang="en" sz="900"/>
          </a:p>
        </p:txBody>
      </p:sp>
      <p:sp>
        <p:nvSpPr>
          <p:cNvPr id="22" name="TextBox 119"/>
          <p:cNvSpPr/>
          <p:nvPr/>
        </p:nvSpPr>
        <p:spPr>
          <a:xfrm>
            <a:off x="10300543" y="6096000"/>
            <a:ext cx="1281857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22" sz="900">
                <a:solidFill>
                  <a:srgbClr val="64748B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FEASIBILITY ROADMAP</a:t>
            </a:r>
            <a:endParaRPr dirty="0" lang="en" sz="9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6"/>
          <p:cNvSpPr/>
          <p:nvPr/>
        </p:nvSpPr>
        <p:spPr>
          <a:xfrm>
            <a:off x="781050" y="2719387"/>
            <a:ext cx="603885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90" sz="900">
                <a:solidFill>
                  <a:srgbClr val="71717A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MEASURABLE IMPACT</a:t>
            </a:r>
            <a:endParaRPr dirty="0" lang="en" sz="900"/>
          </a:p>
        </p:txBody>
      </p:sp>
      <p:sp>
        <p:nvSpPr>
          <p:cNvPr id="4" name="TextBox 28"/>
          <p:cNvSpPr/>
          <p:nvPr/>
        </p:nvSpPr>
        <p:spPr>
          <a:xfrm>
            <a:off x="781050" y="2909888"/>
            <a:ext cx="603885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D4D4D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Delivering enterprise efficiency and uncompromised compliance.</a:t>
            </a:r>
            <a:endParaRPr dirty="0" lang="en" sz="1050"/>
          </a:p>
        </p:txBody>
      </p:sp>
      <p:sp>
        <p:nvSpPr>
          <p:cNvPr id="5" name="TextBox 35"/>
          <p:cNvSpPr/>
          <p:nvPr/>
        </p:nvSpPr>
        <p:spPr>
          <a:xfrm>
            <a:off x="809625" y="3529013"/>
            <a:ext cx="1568351" cy="3571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56" sz="2250">
                <a:solidFill>
                  <a:srgbClr val="00E599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80%</a:t>
            </a:r>
            <a:endParaRPr dirty="0" lang="en" sz="2250"/>
          </a:p>
        </p:txBody>
      </p:sp>
      <p:sp>
        <p:nvSpPr>
          <p:cNvPr id="6" name="TextBox 37"/>
          <p:cNvSpPr/>
          <p:nvPr/>
        </p:nvSpPr>
        <p:spPr>
          <a:xfrm>
            <a:off x="809625" y="3948112"/>
            <a:ext cx="1568351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125"/>
              </a:lnSpc>
              <a:buNone/>
            </a:pPr>
            <a:r>
              <a:rPr altLang="en-US" dirty="0" lang="en" sz="900">
                <a:solidFill>
                  <a:srgbClr val="A1A1A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Reduction in content review</a:t>
            </a:r>
            <a:endParaRPr dirty="0" lang="en" sz="900"/>
          </a:p>
          <a:p>
            <a:pPr algn="l" indent="0" marL="0">
              <a:lnSpc>
                <a:spcPts val="1125"/>
              </a:lnSpc>
              <a:buNone/>
            </a:pPr>
            <a:r>
              <a:rPr altLang="en-US" dirty="0" lang="en" sz="900">
                <a:solidFill>
                  <a:srgbClr val="A1A1A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cycle time</a:t>
            </a:r>
            <a:endParaRPr dirty="0" lang="en" sz="900"/>
          </a:p>
        </p:txBody>
      </p:sp>
      <p:sp>
        <p:nvSpPr>
          <p:cNvPr id="7" name="TextBox 42"/>
          <p:cNvSpPr/>
          <p:nvPr/>
        </p:nvSpPr>
        <p:spPr>
          <a:xfrm>
            <a:off x="2930426" y="3529013"/>
            <a:ext cx="1568500" cy="3571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56" sz="22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99.5%</a:t>
            </a:r>
            <a:endParaRPr dirty="0" lang="en" sz="2250"/>
          </a:p>
        </p:txBody>
      </p:sp>
      <p:sp>
        <p:nvSpPr>
          <p:cNvPr id="8" name="TextBox 44"/>
          <p:cNvSpPr/>
          <p:nvPr/>
        </p:nvSpPr>
        <p:spPr>
          <a:xfrm>
            <a:off x="2930426" y="3948112"/>
            <a:ext cx="1568500" cy="285750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1125"/>
              </a:lnSpc>
              <a:buNone/>
            </a:pPr>
            <a:r>
              <a:rPr altLang="en-US" dirty="0" lang="en" sz="900">
                <a:solidFill>
                  <a:srgbClr val="A1A1A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Elimination of unverified</a:t>
            </a:r>
            <a:endParaRPr dirty="0" lang="en" sz="900"/>
          </a:p>
          <a:p>
            <a:pPr algn="l" indent="0" marL="0">
              <a:lnSpc>
                <a:spcPts val="1125"/>
              </a:lnSpc>
              <a:buNone/>
            </a:pPr>
            <a:r>
              <a:rPr altLang="en-US" dirty="0" lang="en" sz="900">
                <a:solidFill>
                  <a:srgbClr val="A1A1A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claims</a:t>
            </a:r>
            <a:endParaRPr dirty="0" lang="en" sz="900"/>
          </a:p>
        </p:txBody>
      </p:sp>
      <p:sp>
        <p:nvSpPr>
          <p:cNvPr id="9" name="TextBox 49"/>
          <p:cNvSpPr/>
          <p:nvPr/>
        </p:nvSpPr>
        <p:spPr>
          <a:xfrm>
            <a:off x="5051375" y="3529013"/>
            <a:ext cx="1568500" cy="357188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56" sz="22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100%</a:t>
            </a:r>
            <a:endParaRPr dirty="0" lang="en" sz="2250"/>
          </a:p>
        </p:txBody>
      </p:sp>
      <p:sp>
        <p:nvSpPr>
          <p:cNvPr id="10" name="TextBox 51"/>
          <p:cNvSpPr/>
          <p:nvPr/>
        </p:nvSpPr>
        <p:spPr>
          <a:xfrm>
            <a:off x="5051375" y="4090987"/>
            <a:ext cx="1568500" cy="14287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A1A1A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Audit compliance achieved</a:t>
            </a:r>
            <a:endParaRPr dirty="0" lang="en" sz="900"/>
          </a:p>
        </p:txBody>
      </p:sp>
      <p:sp>
        <p:nvSpPr>
          <p:cNvPr id="11" name="TextBox 60"/>
          <p:cNvSpPr/>
          <p:nvPr/>
        </p:nvSpPr>
        <p:spPr>
          <a:xfrm>
            <a:off x="7448550" y="2500312"/>
            <a:ext cx="413385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90" sz="900">
                <a:solidFill>
                  <a:srgbClr val="71717A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FUTURE SCOPE</a:t>
            </a:r>
            <a:endParaRPr dirty="0" lang="en" sz="900"/>
          </a:p>
        </p:txBody>
      </p:sp>
      <p:sp>
        <p:nvSpPr>
          <p:cNvPr id="12" name="TextBox 62"/>
          <p:cNvSpPr/>
          <p:nvPr/>
        </p:nvSpPr>
        <p:spPr>
          <a:xfrm>
            <a:off x="7448550" y="2690813"/>
            <a:ext cx="413385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D4D4D8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Seamless ecosystem expansion &amp; platform interoperability.</a:t>
            </a:r>
            <a:endParaRPr dirty="0" lang="en" sz="1050"/>
          </a:p>
        </p:txBody>
      </p:sp>
      <p:sp>
        <p:nvSpPr>
          <p:cNvPr id="13" name="TextBox 71"/>
          <p:cNvSpPr/>
          <p:nvPr/>
        </p:nvSpPr>
        <p:spPr>
          <a:xfrm>
            <a:off x="7610475" y="3233738"/>
            <a:ext cx="317748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E4E4E7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Slack</a:t>
            </a:r>
            <a:endParaRPr dirty="0" lang="en" sz="1050"/>
          </a:p>
        </p:txBody>
      </p:sp>
      <p:sp>
        <p:nvSpPr>
          <p:cNvPr id="14" name="TextBox 78"/>
          <p:cNvSpPr/>
          <p:nvPr/>
        </p:nvSpPr>
        <p:spPr>
          <a:xfrm>
            <a:off x="9820275" y="3233738"/>
            <a:ext cx="385167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E4E4E7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Figma</a:t>
            </a:r>
            <a:endParaRPr dirty="0" lang="en" sz="1050"/>
          </a:p>
        </p:txBody>
      </p:sp>
      <p:sp>
        <p:nvSpPr>
          <p:cNvPr id="15" name="TextBox 85"/>
          <p:cNvSpPr/>
          <p:nvPr/>
        </p:nvSpPr>
        <p:spPr>
          <a:xfrm>
            <a:off x="7610475" y="3786187"/>
            <a:ext cx="384125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E4E4E7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Canva</a:t>
            </a:r>
            <a:endParaRPr dirty="0" lang="en" sz="1050"/>
          </a:p>
        </p:txBody>
      </p:sp>
      <p:sp>
        <p:nvSpPr>
          <p:cNvPr id="16" name="TextBox 92"/>
          <p:cNvSpPr/>
          <p:nvPr/>
        </p:nvSpPr>
        <p:spPr>
          <a:xfrm>
            <a:off x="9820275" y="3786187"/>
            <a:ext cx="790724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E4E4E7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Google Docs</a:t>
            </a:r>
            <a:endParaRPr dirty="0" lang="en" sz="1050"/>
          </a:p>
        </p:txBody>
      </p:sp>
      <p:sp>
        <p:nvSpPr>
          <p:cNvPr id="17" name="TextBox 99"/>
          <p:cNvSpPr/>
          <p:nvPr/>
        </p:nvSpPr>
        <p:spPr>
          <a:xfrm>
            <a:off x="7610475" y="4338637"/>
            <a:ext cx="54739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E4E4E7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HubSpot</a:t>
            </a:r>
            <a:endParaRPr dirty="0" lang="en" sz="1050"/>
          </a:p>
        </p:txBody>
      </p:sp>
      <p:sp>
        <p:nvSpPr>
          <p:cNvPr id="18" name="TextBox 106"/>
          <p:cNvSpPr/>
          <p:nvPr/>
        </p:nvSpPr>
        <p:spPr>
          <a:xfrm>
            <a:off x="9820275" y="4338637"/>
            <a:ext cx="672554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1050">
                <a:solidFill>
                  <a:srgbClr val="E4E4E7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WordPress</a:t>
            </a:r>
            <a:endParaRPr dirty="0" lang="en" sz="1050"/>
          </a:p>
        </p:txBody>
      </p:sp>
      <p:sp>
        <p:nvSpPr>
          <p:cNvPr id="19" name="TextBox 14"/>
          <p:cNvSpPr/>
          <p:nvPr/>
        </p:nvSpPr>
        <p:spPr>
          <a:xfrm>
            <a:off x="800100" y="609600"/>
            <a:ext cx="2926556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180" sz="900">
                <a:solidFill>
                  <a:srgbClr val="00E599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MEASURABLE IMPACT &amp; FUTURE SCOPE</a:t>
            </a:r>
            <a:endParaRPr dirty="0" lang="en" sz="900"/>
          </a:p>
        </p:txBody>
      </p:sp>
      <p:sp>
        <p:nvSpPr>
          <p:cNvPr id="20" name="TextBox 17"/>
          <p:cNvSpPr/>
          <p:nvPr/>
        </p:nvSpPr>
        <p:spPr>
          <a:xfrm>
            <a:off x="609600" y="838200"/>
            <a:ext cx="10972800" cy="428625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-67" sz="27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Projected Impact &amp; Future Horizon</a:t>
            </a:r>
            <a:endParaRPr dirty="0" lang="en" sz="2700"/>
          </a:p>
        </p:txBody>
      </p:sp>
      <p:sp>
        <p:nvSpPr>
          <p:cNvPr id="21" name="TextBox 114"/>
          <p:cNvSpPr/>
          <p:nvPr/>
        </p:nvSpPr>
        <p:spPr>
          <a:xfrm>
            <a:off x="609600" y="6096000"/>
            <a:ext cx="2344192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71717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Enterprise Efficiency &amp; Ecosystem Roadmap</a:t>
            </a:r>
            <a:endParaRPr dirty="0" lang="en" sz="900"/>
          </a:p>
        </p:txBody>
      </p:sp>
      <p:sp>
        <p:nvSpPr>
          <p:cNvPr id="22" name="TextBox 116"/>
          <p:cNvSpPr/>
          <p:nvPr/>
        </p:nvSpPr>
        <p:spPr>
          <a:xfrm>
            <a:off x="10505777" y="6096000"/>
            <a:ext cx="1076623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71717A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Aura Visual Strategy</a:t>
            </a:r>
            <a:endParaRPr dirty="0" lang="en" sz="9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_type_image" id="2" name="Pic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9"/>
          <p:cNvSpPr/>
          <p:nvPr/>
        </p:nvSpPr>
        <p:spPr>
          <a:xfrm>
            <a:off x="1181100" y="762000"/>
            <a:ext cx="2549426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225" sz="900">
                <a:solidFill>
                  <a:srgbClr val="D9770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CONCLUSION &amp; CALL TO ACTION</a:t>
            </a:r>
            <a:endParaRPr dirty="0" lang="en" sz="900"/>
          </a:p>
        </p:txBody>
      </p:sp>
      <p:sp>
        <p:nvSpPr>
          <p:cNvPr id="4" name="TextBox 12"/>
          <p:cNvSpPr/>
          <p:nvPr/>
        </p:nvSpPr>
        <p:spPr>
          <a:xfrm>
            <a:off x="8594973" y="762000"/>
            <a:ext cx="2835027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kern="0" lang="en" spc="180" sz="900">
                <a:solidFill>
                  <a:srgbClr val="6B7280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INKLOOM AI — ROUND 1 SUBMISSION</a:t>
            </a:r>
            <a:endParaRPr dirty="0" lang="en" sz="900"/>
          </a:p>
        </p:txBody>
      </p:sp>
      <p:sp>
        <p:nvSpPr>
          <p:cNvPr id="5" name="TextBox 17"/>
          <p:cNvSpPr/>
          <p:nvPr/>
        </p:nvSpPr>
        <p:spPr>
          <a:xfrm>
            <a:off x="762000" y="1907084"/>
            <a:ext cx="9753600" cy="1576983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4140"/>
              </a:lnSpc>
              <a:buNone/>
            </a:pPr>
            <a:r>
              <a:rPr altLang="en-US" dirty="0" kern="0" lang="en" spc="-90" sz="36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In an era where AI accelerates content</a:t>
            </a:r>
            <a:endParaRPr dirty="0" lang="en" sz="3600"/>
          </a:p>
          <a:p>
            <a:pPr algn="l" indent="0" marL="0">
              <a:lnSpc>
                <a:spcPts val="4140"/>
              </a:lnSpc>
              <a:buNone/>
            </a:pPr>
            <a:r>
              <a:rPr altLang="en-US" dirty="0" kern="0" lang="en" spc="-90" sz="36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volume by </a:t>
            </a:r>
            <a:r>
              <a:rPr altLang="en-US" dirty="0" kern="0" lang="en" spc="-90" sz="3600">
                <a:solidFill>
                  <a:srgbClr val="D97706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100x</a:t>
            </a:r>
            <a:r>
              <a:rPr altLang="en-US" dirty="0" kern="0" lang="en" spc="-90" sz="36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, BrandSphere AI provides the</a:t>
            </a:r>
            <a:endParaRPr dirty="0" lang="en" sz="3600"/>
          </a:p>
          <a:p>
            <a:pPr algn="l" indent="0" marL="0">
              <a:lnSpc>
                <a:spcPts val="4140"/>
              </a:lnSpc>
              <a:buNone/>
            </a:pPr>
            <a:r>
              <a:rPr altLang="en-US" dirty="0" kern="0" lang="en" spc="-90" sz="360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essential steering wheel and safety system.</a:t>
            </a:r>
            <a:endParaRPr dirty="0" lang="en" sz="3600"/>
          </a:p>
        </p:txBody>
      </p:sp>
      <p:sp>
        <p:nvSpPr>
          <p:cNvPr id="6" name="TextBox 19"/>
          <p:cNvSpPr/>
          <p:nvPr/>
        </p:nvSpPr>
        <p:spPr>
          <a:xfrm>
            <a:off x="762000" y="3788866"/>
            <a:ext cx="7315200" cy="619125"/>
          </a:xfrm>
          <a:prstGeom prst="rect">
            <a:avLst/>
          </a:prstGeom>
          <a:noFill/>
          <a:ln/>
        </p:spPr>
        <p:txBody>
          <a:bodyPr anchor="t" bIns="0" lIns="0" rIns="0" rtlCol="0" tIns="0" wrap="none"/>
          <a:lstStyle/>
          <a:p>
            <a:pPr algn="l" indent="0" marL="0">
              <a:lnSpc>
                <a:spcPts val="2438"/>
              </a:lnSpc>
              <a:buNone/>
            </a:pPr>
            <a:r>
              <a:rPr altLang="en-US" dirty="0" lang="en" sz="15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Team CIPHER CODERS pledge: Building a platform that balances machine speed</a:t>
            </a:r>
            <a:endParaRPr dirty="0" lang="en" sz="1500"/>
          </a:p>
          <a:p>
            <a:pPr algn="l" indent="0" marL="0">
              <a:lnSpc>
                <a:spcPts val="2438"/>
              </a:lnSpc>
              <a:buNone/>
            </a:pPr>
            <a:r>
              <a:rPr altLang="en-US" dirty="0" lang="en" sz="1500">
                <a:solidFill>
                  <a:srgbClr val="9CA3A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with human taste, protecting company reputation at every touchpoint.</a:t>
            </a:r>
            <a:endParaRPr dirty="0" lang="en" sz="1500"/>
          </a:p>
        </p:txBody>
      </p:sp>
      <p:sp>
        <p:nvSpPr>
          <p:cNvPr id="7" name="TextBox 26"/>
          <p:cNvSpPr/>
          <p:nvPr/>
        </p:nvSpPr>
        <p:spPr>
          <a:xfrm>
            <a:off x="762000" y="5715000"/>
            <a:ext cx="2848570" cy="1905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b="1" dirty="0" kern="0" lang="en" spc="52" sz="1050">
                <a:solidFill>
                  <a:srgbClr val="FFFFFF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TEAM CIPHER CODERS</a:t>
            </a:r>
            <a:endParaRPr dirty="0" lang="en" sz="1050"/>
          </a:p>
        </p:txBody>
      </p:sp>
      <p:sp>
        <p:nvSpPr>
          <p:cNvPr id="8" name="TextBox 28"/>
          <p:cNvSpPr/>
          <p:nvPr/>
        </p:nvSpPr>
        <p:spPr>
          <a:xfrm>
            <a:off x="762000" y="5943600"/>
            <a:ext cx="2848570" cy="1524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altLang="en-US" dirty="0" lang="en" sz="900">
                <a:solidFill>
                  <a:srgbClr val="6B7280"/>
                </a:solidFill>
                <a:latin charset="0" pitchFamily="34" typeface="Noto Sans"/>
                <a:ea charset="-122" pitchFamily="34" typeface="Noto Sans"/>
                <a:cs charset="-120" pitchFamily="34" typeface="Noto Sans"/>
              </a:rPr>
              <a:t>Protecting Enterprise Reputation at Every Touchpoint</a:t>
            </a:r>
            <a:endParaRPr dirty="0" lang="en" sz="900"/>
          </a:p>
        </p:txBody>
      </p:sp>
      <p:sp>
        <p:nvSpPr>
          <p:cNvPr id="9" name="TextBox 31"/>
          <p:cNvSpPr/>
          <p:nvPr/>
        </p:nvSpPr>
        <p:spPr>
          <a:xfrm>
            <a:off x="9475143" y="5867400"/>
            <a:ext cx="1954857" cy="228600"/>
          </a:xfrm>
          <a:prstGeom prst="rect">
            <a:avLst/>
          </a:prstGeom>
          <a:noFill/>
          <a:ln/>
        </p:spPr>
        <p:txBody>
          <a:bodyPr anchor="t" bIns="0" lIns="0" rIns="0" rtlCol="0" tIns="0" wrap="none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altLang="en-US" dirty="0" kern="0" lang="en" spc="270" sz="900">
                <a:solidFill>
                  <a:srgbClr val="D97706"/>
                </a:solidFill>
                <a:latin charset="0" pitchFamily="34" typeface="Liberation Mono"/>
                <a:ea charset="-122" pitchFamily="34" typeface="Liberation Mono"/>
                <a:cs charset="-120" pitchFamily="34" typeface="Liberation Mono"/>
              </a:rPr>
              <a:t>END OF PRESENTATION</a:t>
            </a:r>
            <a:endParaRPr dirty="0" lang="e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2026-10-24T14:32:37Z</dcterms:created>
  <dc:creator>PptxGenJS</dc:creator>
  <cp:lastModifiedBy>PptxGenJS</cp:lastModifiedBy>
  <dcterms:modified xsi:type="dcterms:W3CDTF">2026-10-24T14:32:37Z</dcterms:modified>
  <cp:revision>1</cp:revision>
  <dc:subject>PptxGenJS Presentation</dc:subject>
  <dc:title>PptxGenJS Presentation</dc:title>
</cp:coreProperties>
</file>